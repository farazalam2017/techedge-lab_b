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60" r:id="rId3"/>
    <p:sldId id="259" r:id="rId4"/>
    <p:sldId id="258" r:id="rId5"/>
    <p:sldId id="257" r:id="rId6"/>
    <p:sldId id="261" r:id="rId7"/>
    <p:sldId id="272" r:id="rId8"/>
    <p:sldId id="274" r:id="rId9"/>
    <p:sldId id="262" r:id="rId10"/>
    <p:sldId id="273" r:id="rId11"/>
    <p:sldId id="263" r:id="rId12"/>
    <p:sldId id="264" r:id="rId13"/>
    <p:sldId id="265" r:id="rId14"/>
    <p:sldId id="271" r:id="rId15"/>
    <p:sldId id="270" r:id="rId16"/>
    <p:sldId id="269" r:id="rId17"/>
    <p:sldId id="268" r:id="rId18"/>
    <p:sldId id="267" r:id="rId19"/>
    <p:sldId id="266" r:id="rId20"/>
    <p:sldId id="275" r:id="rId21"/>
    <p:sldId id="276" r:id="rId22"/>
    <p:sldId id="277" r:id="rId23"/>
    <p:sldId id="280" r:id="rId24"/>
    <p:sldId id="281" r:id="rId25"/>
    <p:sldId id="279" r:id="rId26"/>
    <p:sldId id="278" r:id="rId27"/>
    <p:sldId id="282" r:id="rId28"/>
    <p:sldId id="283" r:id="rId29"/>
    <p:sldId id="28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1944" y="-28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1F39EC-27D3-4E00-8CDC-B00DFD536294}" type="datetimeFigureOut">
              <a:rPr lang="en-US" smtClean="0"/>
              <a:pPr/>
              <a:t>7/26/2026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348411-E50C-4234-866F-1278F45B05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7/26/2026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5608" y="274638"/>
            <a:ext cx="7498080" cy="1143000"/>
          </a:xfrm>
          <a:prstGeom prst="rect">
            <a:avLst/>
          </a:prstGeom>
        </p:spPr>
        <p:txBody>
          <a:bodyPr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300" b="0" i="0" u="none" strike="noStrike" kern="1200" cap="none" spc="0" normalizeH="0" baseline="0" noProof="0" smtClean="0">
                <a:ln>
                  <a:noFill/>
                </a:ln>
                <a:solidFill>
                  <a:schemeClr val="tx2">
                    <a:satMod val="130000"/>
                  </a:schemeClr>
                </a:solidFill>
                <a:effectLst>
                  <a:outerShdw blurRad="50000" dist="30000" dir="5400000" algn="tl" rotWithShape="0">
                    <a:srgbClr val="000000">
                      <a:alpha val="30000"/>
                    </a:srgbClr>
                  </a:outerShdw>
                </a:effectLst>
                <a:uLnTx/>
                <a:uFillTx/>
                <a:latin typeface="+mj-lt"/>
                <a:ea typeface="+mj-ea"/>
                <a:cs typeface="+mj-cs"/>
              </a:rPr>
              <a:t>          </a:t>
            </a:r>
            <a:r>
              <a:rPr kumimoji="0" lang="en-US" sz="4400" b="1" i="0" u="none" strike="noStrike" kern="1200" cap="none" spc="0" normalizeH="0" baseline="0" noProof="0" smtClean="0">
                <a:ln>
                  <a:noFill/>
                </a:ln>
                <a:solidFill>
                  <a:schemeClr val="tx1"/>
                </a:solidFill>
                <a:effectLst>
                  <a:outerShdw blurRad="50000" dist="30000" dir="5400000" algn="tl" rotWithShape="0">
                    <a:srgbClr val="000000">
                      <a:alpha val="30000"/>
                    </a:srgbClr>
                  </a:outerShdw>
                </a:effectLst>
                <a:uLnTx/>
                <a:uFillTx/>
                <a:latin typeface="Times New Roman" pitchFamily="18" charset="0"/>
                <a:ea typeface="+mj-ea"/>
                <a:cs typeface="Times New Roman" pitchFamily="18" charset="0"/>
              </a:rPr>
              <a:t>Tech-Edge</a:t>
            </a:r>
            <a:r>
              <a:rPr kumimoji="0" lang="en-US" sz="4400" b="1" i="0" u="none" strike="noStrike" kern="1200" cap="none" spc="0" normalizeH="0" baseline="0" noProof="0" smtClean="0">
                <a:ln>
                  <a:noFill/>
                </a:ln>
                <a:solidFill>
                  <a:schemeClr val="tx1"/>
                </a:solidFill>
                <a:effectLst>
                  <a:outerShdw blurRad="50000" dist="30000" dir="5400000" algn="tl" rotWithShape="0">
                    <a:srgbClr val="000000">
                      <a:alpha val="30000"/>
                    </a:srgbClr>
                  </a:outerShdw>
                </a:effectLst>
                <a:uLnTx/>
                <a:uFillTx/>
                <a:latin typeface="+mj-lt"/>
                <a:ea typeface="+mj-ea"/>
                <a:cs typeface="+mj-cs"/>
              </a:rPr>
              <a:t> Lab</a:t>
            </a:r>
            <a:endParaRPr kumimoji="0" lang="en-US" sz="3600" b="1"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mj-lt"/>
              <a:ea typeface="+mj-ea"/>
              <a:cs typeface="+mj-cs"/>
            </a:endParaRPr>
          </a:p>
        </p:txBody>
      </p:sp>
      <p:sp>
        <p:nvSpPr>
          <p:cNvPr id="5" name="Content Placeholder 2"/>
          <p:cNvSpPr txBox="1">
            <a:spLocks/>
          </p:cNvSpPr>
          <p:nvPr/>
        </p:nvSpPr>
        <p:spPr>
          <a:xfrm>
            <a:off x="1435608" y="1447800"/>
            <a:ext cx="7498080" cy="4800600"/>
          </a:xfrm>
          <a:prstGeom prst="rect">
            <a:avLst/>
          </a:prstGeom>
        </p:spPr>
        <p:txBody>
          <a:bodyPr tIns="0">
            <a:normAutofit/>
          </a:bodyPr>
          <a:lstStyle/>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Topic: - </a:t>
            </a: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Generative AI &amp; Intelligent Application Development Bootcamp</a:t>
            </a:r>
            <a:endParaRPr kumimoji="0" lang="en-US" sz="2800" b="0"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endParaRP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a:t>
            </a: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Sub-topic:- </a:t>
            </a: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Industry-Oriented Training Program on LLMs, AI Tools, AI Agents &amp; Vibe Coding	</a:t>
            </a:r>
            <a:endParaRPr kumimoji="0" lang="en-US" sz="2800" b="0"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endParaRP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endParaRPr kumimoji="0" lang="en-US" sz="2800" b="0" i="0" u="none" strike="noStrike" kern="1200" cap="none" spc="0" normalizeH="0" baseline="0" noProof="0" dirty="0">
              <a:ln>
                <a:noFill/>
              </a:ln>
              <a:solidFill>
                <a:schemeClr val="tx2">
                  <a:shade val="30000"/>
                  <a:satMod val="150000"/>
                </a:schemeClr>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95400" y="1600200"/>
            <a:ext cx="6781800" cy="2677656"/>
          </a:xfrm>
          <a:prstGeom prst="rect">
            <a:avLst/>
          </a:prstGeom>
          <a:noFill/>
        </p:spPr>
        <p:txBody>
          <a:bodyPr wrap="square" rtlCol="0">
            <a:spAutoFit/>
          </a:bodyPr>
          <a:lstStyle/>
          <a:p>
            <a:r>
              <a:rPr lang="en-IN" sz="2800" b="1" dirty="0" smtClean="0">
                <a:latin typeface="Times New Roman" pitchFamily="18" charset="0"/>
                <a:cs typeface="Times New Roman" pitchFamily="18" charset="0"/>
              </a:rPr>
              <a:t>Module 1:- </a:t>
            </a:r>
            <a:r>
              <a:rPr lang="en-IN" sz="2800" dirty="0" smtClean="0">
                <a:latin typeface="Times New Roman" pitchFamily="18" charset="0"/>
                <a:cs typeface="Times New Roman" pitchFamily="18" charset="0"/>
              </a:rPr>
              <a:t>AI industry and Careers</a:t>
            </a:r>
          </a:p>
          <a:p>
            <a:endParaRPr lang="en-IN" sz="2800" dirty="0" smtClean="0">
              <a:latin typeface="Times New Roman" pitchFamily="18" charset="0"/>
              <a:cs typeface="Times New Roman" pitchFamily="18" charset="0"/>
            </a:endParaRPr>
          </a:p>
          <a:p>
            <a:endParaRPr lang="en-IN" sz="2800" dirty="0" smtClean="0">
              <a:latin typeface="Times New Roman" pitchFamily="18" charset="0"/>
              <a:cs typeface="Times New Roman" pitchFamily="18" charset="0"/>
            </a:endParaRPr>
          </a:p>
          <a:p>
            <a:r>
              <a:rPr lang="en-IN" sz="2800" b="1" dirty="0" smtClean="0">
                <a:latin typeface="Times New Roman" pitchFamily="18" charset="0"/>
                <a:cs typeface="Times New Roman" pitchFamily="18" charset="0"/>
              </a:rPr>
              <a:t>Lecture 2:- </a:t>
            </a:r>
            <a:r>
              <a:rPr lang="en-US" sz="2800" dirty="0" smtClean="0">
                <a:latin typeface="Times New Roman" pitchFamily="18" charset="0"/>
                <a:cs typeface="Times New Roman" pitchFamily="18" charset="0"/>
              </a:rPr>
              <a:t>AI Ecosystem: Understanding AI, ML, Deep Learning, NLP, Computer Vision, Robotics &amp; Generative AI</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990600" y="533401"/>
          <a:ext cx="8001000" cy="6211147"/>
        </p:xfrm>
        <a:graphic>
          <a:graphicData uri="http://schemas.openxmlformats.org/drawingml/2006/table">
            <a:tbl>
              <a:tblPr firstRow="1" bandRow="1">
                <a:tableStyleId>{5C22544A-7EE6-4342-B048-85BDC9FD1C3A}</a:tableStyleId>
              </a:tblPr>
              <a:tblGrid>
                <a:gridCol w="1223010"/>
                <a:gridCol w="6777990"/>
              </a:tblGrid>
              <a:tr h="663787">
                <a:tc>
                  <a:txBody>
                    <a:bodyPr/>
                    <a:lstStyle/>
                    <a:p>
                      <a:r>
                        <a:rPr lang="en-US" sz="2000" dirty="0" smtClean="0">
                          <a:latin typeface="Times New Roman" pitchFamily="18" charset="0"/>
                          <a:cs typeface="Times New Roman" pitchFamily="18" charset="0"/>
                        </a:rPr>
                        <a:t>S.No.</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Topic</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AI Ecosystem &amp; Diagram</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2.</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AI</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3.</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Types of AI</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4.</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Machine Learning(ML Workflows)</a:t>
                      </a:r>
                      <a:r>
                        <a:rPr lang="en-US" sz="2000" baseline="0" dirty="0" smtClean="0">
                          <a:latin typeface="Times New Roman" pitchFamily="18" charset="0"/>
                          <a:cs typeface="Times New Roman" pitchFamily="18" charset="0"/>
                        </a:rPr>
                        <a:t> &amp; Types</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5.</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Deep learning</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6.</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Artificial Neural Network (ANN or NN)</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7.</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ML Vs DL</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8.</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Natural Language learning(NLP)</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9.</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NLP task</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10.</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Computer vision(CV) &amp; its task</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11.</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Robotics</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12.</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Gen AI</a:t>
                      </a:r>
                      <a:r>
                        <a:rPr lang="en-US" sz="2000" baseline="0" dirty="0" smtClean="0">
                          <a:latin typeface="Times New Roman" pitchFamily="18" charset="0"/>
                          <a:cs typeface="Times New Roman" pitchFamily="18" charset="0"/>
                        </a:rPr>
                        <a:t> and its working, tradition AI Vs Gen AI</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13.</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AI Ecosystem</a:t>
                      </a:r>
                      <a:r>
                        <a:rPr lang="en-US" sz="2000" baseline="0" dirty="0" smtClean="0">
                          <a:latin typeface="Times New Roman" pitchFamily="18" charset="0"/>
                          <a:cs typeface="Times New Roman" pitchFamily="18" charset="0"/>
                        </a:rPr>
                        <a:t> Comparison, Real World Example</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14.</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Future</a:t>
                      </a:r>
                      <a:r>
                        <a:rPr lang="en-US" sz="2000" baseline="0" dirty="0" smtClean="0">
                          <a:latin typeface="Times New Roman" pitchFamily="18" charset="0"/>
                          <a:cs typeface="Times New Roman" pitchFamily="18" charset="0"/>
                        </a:rPr>
                        <a:t> of AI and takeaways</a:t>
                      </a:r>
                      <a:endParaRPr lang="en-US" sz="2000" dirty="0">
                        <a:latin typeface="Times New Roman" pitchFamily="18" charset="0"/>
                        <a:cs typeface="Times New Roman" pitchFamily="18" charset="0"/>
                      </a:endParaRPr>
                    </a:p>
                  </a:txBody>
                  <a:tcPr/>
                </a:tc>
              </a:tr>
            </a:tbl>
          </a:graphicData>
        </a:graphic>
      </p:graphicFrame>
      <p:sp>
        <p:nvSpPr>
          <p:cNvPr id="5" name="TextBox 4"/>
          <p:cNvSpPr txBox="1"/>
          <p:nvPr/>
        </p:nvSpPr>
        <p:spPr>
          <a:xfrm>
            <a:off x="3810000" y="0"/>
            <a:ext cx="1063112" cy="523220"/>
          </a:xfrm>
          <a:prstGeom prst="rect">
            <a:avLst/>
          </a:prstGeom>
          <a:noFill/>
        </p:spPr>
        <p:txBody>
          <a:bodyPr wrap="none" rtlCol="0">
            <a:spAutoFit/>
          </a:bodyPr>
          <a:lstStyle/>
          <a:p>
            <a:r>
              <a:rPr lang="en-IN" sz="2800" b="1" u="sng" dirty="0" smtClean="0">
                <a:latin typeface="Times New Roman" pitchFamily="18" charset="0"/>
                <a:cs typeface="Times New Roman" pitchFamily="18" charset="0"/>
              </a:rPr>
              <a:t>Index</a:t>
            </a:r>
            <a:endParaRPr lang="en-US" sz="2800" b="1" u="sng"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574280" cy="1143000"/>
          </a:xfrm>
        </p:spPr>
        <p:txBody>
          <a:bodyPr>
            <a:normAutofit/>
          </a:bodyPr>
          <a:lstStyle/>
          <a:p>
            <a:r>
              <a:rPr lang="it-IT" sz="2800" b="1" u="sng" dirty="0" smtClean="0">
                <a:solidFill>
                  <a:schemeClr val="tx1"/>
                </a:solidFill>
                <a:latin typeface="Times New Roman" pitchFamily="18" charset="0"/>
                <a:cs typeface="Times New Roman" pitchFamily="18" charset="0"/>
              </a:rPr>
              <a:t>Recap: Introduction to AI World</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066800" y="914400"/>
            <a:ext cx="7866888" cy="5334000"/>
          </a:xfrm>
        </p:spPr>
        <p:txBody>
          <a:bodyPr>
            <a:normAutofit/>
          </a:bodyPr>
          <a:lstStyle/>
          <a:p>
            <a:r>
              <a:rPr lang="en-US" sz="2800" b="1" dirty="0" smtClean="0">
                <a:latin typeface="Times New Roman" pitchFamily="18" charset="0"/>
                <a:cs typeface="Times New Roman" pitchFamily="18" charset="0"/>
              </a:rPr>
              <a:t>Yesterday We Learned:</a:t>
            </a:r>
          </a:p>
          <a:p>
            <a:pPr lvl="1"/>
            <a:r>
              <a:rPr lang="en-US" dirty="0" smtClean="0">
                <a:latin typeface="Times New Roman" pitchFamily="18" charset="0"/>
                <a:cs typeface="Times New Roman" pitchFamily="18" charset="0"/>
              </a:rPr>
              <a:t>Why AI is important </a:t>
            </a:r>
          </a:p>
          <a:p>
            <a:pPr lvl="1"/>
            <a:r>
              <a:rPr lang="en-US" dirty="0" smtClean="0">
                <a:latin typeface="Times New Roman" pitchFamily="18" charset="0"/>
                <a:cs typeface="Times New Roman" pitchFamily="18" charset="0"/>
              </a:rPr>
              <a:t>AI career opportunities </a:t>
            </a:r>
          </a:p>
          <a:p>
            <a:pPr lvl="1"/>
            <a:r>
              <a:rPr lang="en-US" dirty="0" smtClean="0">
                <a:latin typeface="Times New Roman" pitchFamily="18" charset="0"/>
                <a:cs typeface="Times New Roman" pitchFamily="18" charset="0"/>
              </a:rPr>
              <a:t>AI </a:t>
            </a:r>
            <a:r>
              <a:rPr lang="en-US" dirty="0" err="1" smtClean="0">
                <a:latin typeface="Times New Roman" pitchFamily="18" charset="0"/>
                <a:cs typeface="Times New Roman" pitchFamily="18" charset="0"/>
              </a:rPr>
              <a:t>vs</a:t>
            </a:r>
            <a:r>
              <a:rPr lang="en-US" dirty="0" smtClean="0">
                <a:latin typeface="Times New Roman" pitchFamily="18" charset="0"/>
                <a:cs typeface="Times New Roman" pitchFamily="18" charset="0"/>
              </a:rPr>
              <a:t> Traditional Programming </a:t>
            </a:r>
          </a:p>
          <a:p>
            <a:pPr lvl="1"/>
            <a:r>
              <a:rPr lang="en-US" dirty="0" smtClean="0">
                <a:latin typeface="Times New Roman" pitchFamily="18" charset="0"/>
                <a:cs typeface="Times New Roman" pitchFamily="18" charset="0"/>
              </a:rPr>
              <a:t>Role of AI in software development </a:t>
            </a:r>
          </a:p>
          <a:p>
            <a:endParaRPr lang="en-IN"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Today:</a:t>
            </a:r>
          </a:p>
          <a:p>
            <a:pPr lvl="1"/>
            <a:r>
              <a:rPr lang="en-US" dirty="0" smtClean="0">
                <a:latin typeface="Times New Roman" pitchFamily="18" charset="0"/>
                <a:cs typeface="Times New Roman" pitchFamily="18" charset="0"/>
              </a:rPr>
              <a:t>How different AI technologies work together.</a:t>
            </a:r>
          </a:p>
          <a:p>
            <a:pPr>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914400"/>
          </a:xfrm>
        </p:spPr>
        <p:txBody>
          <a:bodyPr>
            <a:normAutofit/>
          </a:bodyPr>
          <a:lstStyle/>
          <a:p>
            <a:r>
              <a:rPr lang="en-US" sz="2800" b="1" u="sng" dirty="0" smtClean="0">
                <a:solidFill>
                  <a:schemeClr val="tx1"/>
                </a:solidFill>
                <a:latin typeface="Times New Roman" pitchFamily="18" charset="0"/>
                <a:cs typeface="Times New Roman" pitchFamily="18" charset="0"/>
              </a:rPr>
              <a:t>Activity</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943088" cy="5105400"/>
          </a:xfrm>
        </p:spPr>
        <p:txBody>
          <a:bodyPr>
            <a:normAutofit/>
          </a:bodyPr>
          <a:lstStyle/>
          <a:p>
            <a:pPr>
              <a:buNone/>
            </a:pPr>
            <a:r>
              <a:rPr lang="en-US" sz="2400" b="1" dirty="0" smtClean="0">
                <a:latin typeface="Times New Roman" pitchFamily="18" charset="0"/>
                <a:cs typeface="Times New Roman" pitchFamily="18" charset="0"/>
              </a:rPr>
              <a:t>Name 3 AI applications you used today.</a:t>
            </a:r>
            <a:endParaRPr lang="en-US" sz="2400" b="1"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295400" y="2133600"/>
          <a:ext cx="7620000" cy="3276600"/>
        </p:xfrm>
        <a:graphic>
          <a:graphicData uri="http://schemas.openxmlformats.org/drawingml/2006/table">
            <a:tbl>
              <a:tblPr firstRow="1" bandRow="1">
                <a:tableStyleId>{5C22544A-7EE6-4342-B048-85BDC9FD1C3A}</a:tableStyleId>
              </a:tblPr>
              <a:tblGrid>
                <a:gridCol w="1143000"/>
                <a:gridCol w="6477000"/>
              </a:tblGrid>
              <a:tr h="1112808">
                <a:tc>
                  <a:txBody>
                    <a:bodyPr/>
                    <a:lstStyle/>
                    <a:p>
                      <a:r>
                        <a:rPr lang="en-IN" sz="2400" dirty="0" smtClean="0">
                          <a:latin typeface="Times New Roman" pitchFamily="18" charset="0"/>
                          <a:cs typeface="Times New Roman" pitchFamily="18" charset="0"/>
                        </a:rPr>
                        <a:t>Name</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AI Feature</a:t>
                      </a:r>
                      <a:r>
                        <a:rPr lang="en-IN" sz="2400" baseline="0" dirty="0" smtClean="0">
                          <a:latin typeface="Times New Roman" pitchFamily="18" charset="0"/>
                          <a:cs typeface="Times New Roman" pitchFamily="18" charset="0"/>
                        </a:rPr>
                        <a:t> used in that</a:t>
                      </a:r>
                      <a:endParaRPr lang="en-US" sz="2400" dirty="0">
                        <a:latin typeface="Times New Roman" pitchFamily="18" charset="0"/>
                        <a:cs typeface="Times New Roman" pitchFamily="18" charset="0"/>
                      </a:endParaRPr>
                    </a:p>
                  </a:txBody>
                  <a:tcPr/>
                </a:tc>
              </a:tr>
              <a:tr h="721264">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r>
              <a:tr h="721264">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r>
              <a:tr h="721264">
                <a:tc>
                  <a:txBody>
                    <a:bodyPr/>
                    <a:lstStyle/>
                    <a:p>
                      <a:endParaRPr lang="en-US" sz="2400">
                        <a:latin typeface="Times New Roman" pitchFamily="18" charset="0"/>
                        <a:cs typeface="Times New Roman" pitchFamily="18" charset="0"/>
                      </a:endParaRPr>
                    </a:p>
                  </a:txBody>
                  <a:tcPr/>
                </a:tc>
                <a:tc>
                  <a:txBody>
                    <a:bodyPr/>
                    <a:lstStyle/>
                    <a:p>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838200"/>
          </a:xfrm>
        </p:spPr>
        <p:txBody>
          <a:bodyPr>
            <a:normAutofit/>
          </a:bodyPr>
          <a:lstStyle/>
          <a:p>
            <a:r>
              <a:rPr lang="en-US" sz="2800" b="1" u="sng" dirty="0" smtClean="0">
                <a:solidFill>
                  <a:schemeClr val="tx1"/>
                </a:solidFill>
                <a:latin typeface="Times New Roman" pitchFamily="18" charset="0"/>
                <a:cs typeface="Times New Roman" pitchFamily="18" charset="0"/>
              </a:rPr>
              <a:t>What is an Ecosystem?</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762000"/>
            <a:ext cx="7943088" cy="5867400"/>
          </a:xfrm>
        </p:spPr>
        <p:txBody>
          <a:bodyPr>
            <a:normAutofit fontScale="92500" lnSpcReduction="10000"/>
          </a:bodyPr>
          <a:lstStyle/>
          <a:p>
            <a:r>
              <a:rPr lang="en-US" sz="2400" b="1" dirty="0" smtClean="0">
                <a:latin typeface="Times New Roman" pitchFamily="18" charset="0"/>
                <a:cs typeface="Times New Roman" pitchFamily="18" charset="0"/>
              </a:rPr>
              <a:t>Definition</a:t>
            </a:r>
          </a:p>
          <a:p>
            <a:pPr>
              <a:buNone/>
            </a:pPr>
            <a:endParaRPr lang="en-US" sz="2400" b="1"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r>
              <a:rPr lang="en-US" sz="2600" dirty="0" smtClean="0">
                <a:latin typeface="Times New Roman" pitchFamily="18" charset="0"/>
                <a:cs typeface="Times New Roman" pitchFamily="18" charset="0"/>
              </a:rPr>
              <a:t>An ecosystem is a group of technologies that work together to create intelligent systems</a:t>
            </a:r>
            <a:r>
              <a:rPr lang="en-US" sz="2400" dirty="0" smtClean="0">
                <a:latin typeface="Times New Roman" pitchFamily="18" charset="0"/>
                <a:cs typeface="Times New Roman" pitchFamily="18" charset="0"/>
              </a:rPr>
              <a:t>.</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Human Intelligence Example:</a:t>
            </a:r>
          </a:p>
          <a:p>
            <a:pPr lvl="1"/>
            <a:r>
              <a:rPr lang="en-US" sz="2600" dirty="0" smtClean="0">
                <a:latin typeface="Times New Roman" pitchFamily="18" charset="0"/>
                <a:cs typeface="Times New Roman" pitchFamily="18" charset="0"/>
              </a:rPr>
              <a:t>Human uses:</a:t>
            </a:r>
          </a:p>
          <a:p>
            <a:pPr lvl="1"/>
            <a:r>
              <a:rPr lang="en-US" sz="2600" dirty="0" smtClean="0">
                <a:latin typeface="Times New Roman" pitchFamily="18" charset="0"/>
                <a:cs typeface="Times New Roman" pitchFamily="18" charset="0"/>
              </a:rPr>
              <a:t>Eyes → Seeing </a:t>
            </a:r>
          </a:p>
          <a:p>
            <a:pPr lvl="1"/>
            <a:r>
              <a:rPr lang="en-US" sz="2600" dirty="0" smtClean="0">
                <a:latin typeface="Times New Roman" pitchFamily="18" charset="0"/>
                <a:cs typeface="Times New Roman" pitchFamily="18" charset="0"/>
              </a:rPr>
              <a:t>Ears → Listening </a:t>
            </a:r>
          </a:p>
          <a:p>
            <a:pPr lvl="1"/>
            <a:r>
              <a:rPr lang="en-US" sz="2600" dirty="0" smtClean="0">
                <a:latin typeface="Times New Roman" pitchFamily="18" charset="0"/>
                <a:cs typeface="Times New Roman" pitchFamily="18" charset="0"/>
              </a:rPr>
              <a:t>Brain → Thinking </a:t>
            </a:r>
          </a:p>
          <a:p>
            <a:pPr lvl="1"/>
            <a:r>
              <a:rPr lang="en-US" sz="2600" dirty="0" smtClean="0">
                <a:latin typeface="Times New Roman" pitchFamily="18" charset="0"/>
                <a:cs typeface="Times New Roman" pitchFamily="18" charset="0"/>
              </a:rPr>
              <a:t>Memory → Learning </a:t>
            </a:r>
          </a:p>
          <a:p>
            <a:pPr lvl="1"/>
            <a:r>
              <a:rPr lang="en-US" sz="2600" dirty="0" smtClean="0">
                <a:latin typeface="Times New Roman" pitchFamily="18" charset="0"/>
                <a:cs typeface="Times New Roman" pitchFamily="18" charset="0"/>
              </a:rPr>
              <a:t>Decision Making → Action </a:t>
            </a:r>
          </a:p>
          <a:p>
            <a:pPr lvl="1">
              <a:buNone/>
            </a:pP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AI systems also combine multiple technologies.</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fontScale="70000" lnSpcReduction="20000"/>
          </a:bodyPr>
          <a:lstStyle/>
          <a:p>
            <a:pPr>
              <a:buNone/>
            </a:pPr>
            <a:r>
              <a:rPr lang="en-US" dirty="0" smtClean="0">
                <a:latin typeface="Times New Roman" pitchFamily="18" charset="0"/>
                <a:cs typeface="Times New Roman" pitchFamily="18" charset="0"/>
              </a:rPr>
              <a:t> Artificial Intelligence</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a:t>
            </a:r>
          </a:p>
          <a:p>
            <a:pPr>
              <a:buNone/>
            </a:pPr>
            <a:r>
              <a:rPr lang="en-US" dirty="0" smtClean="0">
                <a:latin typeface="Times New Roman" pitchFamily="18" charset="0"/>
                <a:cs typeface="Times New Roman" pitchFamily="18" charset="0"/>
              </a:rPr>
              <a:t> Machine Learning              Rule Based AI</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Deep Learning</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a:t>
            </a:r>
          </a:p>
          <a:p>
            <a:pPr>
              <a:buNone/>
            </a:pPr>
            <a:r>
              <a:rPr lang="en-US" dirty="0" smtClean="0">
                <a:latin typeface="Times New Roman" pitchFamily="18" charset="0"/>
                <a:cs typeface="Times New Roman" pitchFamily="18" charset="0"/>
              </a:rPr>
              <a:t>NLP              Computer Vision</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Generative AI</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AI Applications</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Robotics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6202362"/>
          </a:xfrm>
        </p:spPr>
        <p:txBody>
          <a:bodyPr>
            <a:normAutofit/>
          </a:bodyPr>
          <a:lstStyle/>
          <a:p>
            <a:r>
              <a:rPr lang="en-US" sz="2800" b="1" dirty="0" smtClean="0">
                <a:solidFill>
                  <a:schemeClr val="tx1"/>
                </a:solidFill>
                <a:latin typeface="Times New Roman" pitchFamily="18" charset="0"/>
                <a:cs typeface="Times New Roman" pitchFamily="18" charset="0"/>
              </a:rPr>
              <a:t>Important Points</a:t>
            </a:r>
            <a:br>
              <a:rPr lang="en-US" sz="2800" b="1" dirty="0" smtClean="0">
                <a:solidFill>
                  <a:schemeClr val="tx1"/>
                </a:solidFill>
                <a:latin typeface="Times New Roman" pitchFamily="18" charset="0"/>
                <a:cs typeface="Times New Roman" pitchFamily="18" charset="0"/>
              </a:rPr>
            </a:br>
            <a:r>
              <a:rPr lang="en-US" sz="2800" dirty="0" smtClean="0">
                <a:solidFill>
                  <a:schemeClr val="tx1"/>
                </a:solidFill>
                <a:latin typeface="Times New Roman" pitchFamily="18" charset="0"/>
                <a:cs typeface="Times New Roman" pitchFamily="18" charset="0"/>
              </a:rPr>
              <a:t/>
            </a:r>
            <a:br>
              <a:rPr lang="en-US" sz="2800" dirty="0" smtClean="0">
                <a:solidFill>
                  <a:schemeClr val="tx1"/>
                </a:solidFill>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AI is the biggest field.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ML is a technique to achieve AI.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Deep Learning is a powerful ML method.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NLP helps machines understand language.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Computer Vision helps machines see.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Generative AI creates new content.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Robotics combines AI with machines.</a:t>
            </a:r>
            <a:r>
              <a:rPr lang="en-US" sz="2800" dirty="0" smtClean="0">
                <a:solidFill>
                  <a:schemeClr val="tx1"/>
                </a:solidFill>
                <a:latin typeface="Times New Roman" pitchFamily="18" charset="0"/>
                <a:cs typeface="Times New Roman" pitchFamily="18" charset="0"/>
              </a:rPr>
              <a:t/>
            </a:r>
            <a:br>
              <a:rPr lang="en-US" sz="2800" dirty="0" smtClean="0">
                <a:solidFill>
                  <a:schemeClr val="tx1"/>
                </a:solidFill>
                <a:latin typeface="Times New Roman" pitchFamily="18" charset="0"/>
                <a:cs typeface="Times New Roman" pitchFamily="18" charset="0"/>
              </a:rPr>
            </a:br>
            <a:endParaRPr lang="en-US" sz="28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r>
              <a:rPr lang="en-US" dirty="0" smtClean="0">
                <a:latin typeface="Times New Roman" pitchFamily="18" charset="0"/>
                <a:cs typeface="Times New Roman" pitchFamily="18" charset="0"/>
              </a:rPr>
              <a:t>Human:</a:t>
            </a:r>
          </a:p>
          <a:p>
            <a:pPr lvl="1"/>
            <a:r>
              <a:rPr lang="en-IN" sz="3200" b="1" dirty="0" smtClean="0">
                <a:latin typeface="Times New Roman" pitchFamily="18" charset="0"/>
                <a:cs typeface="Times New Roman" pitchFamily="18" charset="0"/>
              </a:rPr>
              <a:t>Parts </a:t>
            </a:r>
            <a:r>
              <a:rPr lang="en-US" sz="3200" b="1" dirty="0" smtClean="0">
                <a:latin typeface="Times New Roman" pitchFamily="18" charset="0"/>
                <a:cs typeface="Times New Roman" pitchFamily="18" charset="0"/>
              </a:rPr>
              <a:t>→ Field of AI</a:t>
            </a:r>
          </a:p>
          <a:p>
            <a:pPr lvl="1"/>
            <a:r>
              <a:rPr lang="en-US" sz="3200" dirty="0" smtClean="0">
                <a:latin typeface="Times New Roman" pitchFamily="18" charset="0"/>
                <a:cs typeface="Times New Roman" pitchFamily="18" charset="0"/>
              </a:rPr>
              <a:t>Eyes →?</a:t>
            </a:r>
          </a:p>
          <a:p>
            <a:pPr lvl="1"/>
            <a:r>
              <a:rPr lang="en-US" sz="3200" dirty="0" smtClean="0">
                <a:latin typeface="Times New Roman" pitchFamily="18" charset="0"/>
                <a:cs typeface="Times New Roman" pitchFamily="18" charset="0"/>
              </a:rPr>
              <a:t>Brain → ?</a:t>
            </a:r>
          </a:p>
          <a:p>
            <a:pPr lvl="1"/>
            <a:r>
              <a:rPr lang="en-US" sz="3200" dirty="0" smtClean="0">
                <a:latin typeface="Times New Roman" pitchFamily="18" charset="0"/>
                <a:cs typeface="Times New Roman" pitchFamily="18" charset="0"/>
              </a:rPr>
              <a:t>Memory → ?</a:t>
            </a:r>
          </a:p>
          <a:p>
            <a:pPr lvl="1"/>
            <a:r>
              <a:rPr lang="en-US" sz="3200" dirty="0" smtClean="0">
                <a:latin typeface="Times New Roman" pitchFamily="18" charset="0"/>
                <a:cs typeface="Times New Roman" pitchFamily="18" charset="0"/>
              </a:rPr>
              <a:t>Learning → ?</a:t>
            </a:r>
          </a:p>
          <a:p>
            <a:pPr lvl="1"/>
            <a:r>
              <a:rPr lang="en-US" sz="3200" dirty="0" smtClean="0">
                <a:latin typeface="Times New Roman" pitchFamily="18" charset="0"/>
                <a:cs typeface="Times New Roman" pitchFamily="18" charset="0"/>
              </a:rPr>
              <a:t>Language → ?</a:t>
            </a:r>
          </a:p>
          <a:p>
            <a:pPr lvl="1"/>
            <a:r>
              <a:rPr lang="en-US" sz="3200" dirty="0" smtClean="0">
                <a:latin typeface="Times New Roman" pitchFamily="18" charset="0"/>
                <a:cs typeface="Times New Roman" pitchFamily="18" charset="0"/>
              </a:rPr>
              <a:t>Decision → ?</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76200"/>
            <a:ext cx="7943088" cy="6172200"/>
          </a:xfrm>
        </p:spPr>
        <p:txBody>
          <a:bodyPr>
            <a:normAutofit/>
          </a:bodyPr>
          <a:lstStyle/>
          <a:p>
            <a:pPr lvl="1">
              <a:buNone/>
            </a:pPr>
            <a:r>
              <a:rPr lang="en-IN" sz="3600" b="1" u="sng" dirty="0" smtClean="0">
                <a:latin typeface="Times New Roman" pitchFamily="18" charset="0"/>
                <a:cs typeface="Times New Roman" pitchFamily="18" charset="0"/>
              </a:rPr>
              <a:t>Answers</a:t>
            </a:r>
            <a:endParaRPr lang="en-US" sz="3600" b="1" u="sng"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Eyes → Computer Vision</a:t>
            </a:r>
          </a:p>
          <a:p>
            <a:pPr lvl="1"/>
            <a:r>
              <a:rPr lang="en-US" sz="3600" dirty="0" smtClean="0">
                <a:latin typeface="Times New Roman" pitchFamily="18" charset="0"/>
                <a:cs typeface="Times New Roman" pitchFamily="18" charset="0"/>
              </a:rPr>
              <a:t>Brain → AI</a:t>
            </a:r>
          </a:p>
          <a:p>
            <a:pPr lvl="1"/>
            <a:r>
              <a:rPr lang="en-US" sz="3600" dirty="0" smtClean="0">
                <a:latin typeface="Times New Roman" pitchFamily="18" charset="0"/>
                <a:cs typeface="Times New Roman" pitchFamily="18" charset="0"/>
              </a:rPr>
              <a:t>Memory → Data</a:t>
            </a:r>
          </a:p>
          <a:p>
            <a:pPr lvl="1"/>
            <a:r>
              <a:rPr lang="en-US" sz="3600" dirty="0" smtClean="0">
                <a:latin typeface="Times New Roman" pitchFamily="18" charset="0"/>
                <a:cs typeface="Times New Roman" pitchFamily="18" charset="0"/>
              </a:rPr>
              <a:t>Learning → Machine Learning</a:t>
            </a:r>
          </a:p>
          <a:p>
            <a:pPr lvl="1"/>
            <a:r>
              <a:rPr lang="en-US" sz="3600" dirty="0" smtClean="0">
                <a:latin typeface="Times New Roman" pitchFamily="18" charset="0"/>
                <a:cs typeface="Times New Roman" pitchFamily="18" charset="0"/>
              </a:rPr>
              <a:t>Language → NLP</a:t>
            </a:r>
          </a:p>
          <a:p>
            <a:pPr lvl="1"/>
            <a:r>
              <a:rPr lang="en-US" sz="3600" dirty="0" smtClean="0">
                <a:latin typeface="Times New Roman" pitchFamily="18" charset="0"/>
                <a:cs typeface="Times New Roman" pitchFamily="18" charset="0"/>
              </a:rPr>
              <a:t>Decision → AI Algorithms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457200"/>
          </a:xfrm>
        </p:spPr>
        <p:txBody>
          <a:bodyPr>
            <a:noAutofit/>
          </a:bodyPr>
          <a:lstStyle/>
          <a:p>
            <a:r>
              <a:rPr lang="en-US" sz="2800" b="1" dirty="0" smtClean="0">
                <a:solidFill>
                  <a:schemeClr val="tx1"/>
                </a:solidFill>
                <a:latin typeface="Times New Roman" pitchFamily="18" charset="0"/>
                <a:cs typeface="Times New Roman" pitchFamily="18" charset="0"/>
              </a:rPr>
              <a:t>Activity 1</a:t>
            </a:r>
            <a:endParaRPr lang="en-US" sz="28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533400"/>
            <a:ext cx="7943088" cy="6172200"/>
          </a:xfrm>
        </p:spPr>
        <p:txBody>
          <a:bodyPr>
            <a:noAutofit/>
          </a:bodyPr>
          <a:lstStyle/>
          <a:p>
            <a:r>
              <a:rPr lang="en-US" sz="2400" b="1" dirty="0" smtClean="0">
                <a:latin typeface="Times New Roman" pitchFamily="18" charset="0"/>
                <a:cs typeface="Times New Roman" pitchFamily="18" charset="0"/>
              </a:rPr>
              <a:t>Identify the Technology</a:t>
            </a:r>
          </a:p>
          <a:p>
            <a:pPr>
              <a:buNone/>
            </a:pPr>
            <a:r>
              <a:rPr lang="en-US" sz="2400" dirty="0" smtClean="0">
                <a:latin typeface="Times New Roman" pitchFamily="18" charset="0"/>
                <a:cs typeface="Times New Roman" pitchFamily="18" charset="0"/>
              </a:rPr>
              <a:t>	   students:</a:t>
            </a:r>
          </a:p>
          <a:p>
            <a:pPr>
              <a:buNone/>
            </a:pPr>
            <a:r>
              <a:rPr lang="en-US" sz="2400" b="1" dirty="0" smtClean="0">
                <a:latin typeface="Times New Roman" pitchFamily="18" charset="0"/>
                <a:cs typeface="Times New Roman" pitchFamily="18" charset="0"/>
              </a:rPr>
              <a:t>1) Face Unlock</a:t>
            </a:r>
          </a:p>
          <a:p>
            <a:r>
              <a:rPr lang="en-US" sz="2400" dirty="0" smtClean="0">
                <a:latin typeface="Times New Roman" pitchFamily="18" charset="0"/>
                <a:cs typeface="Times New Roman" pitchFamily="18" charset="0"/>
              </a:rPr>
              <a:t>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2) Google Translate</a:t>
            </a:r>
          </a:p>
          <a:p>
            <a:r>
              <a:rPr lang="en-US" sz="2400" dirty="0" smtClean="0">
                <a:latin typeface="Times New Roman" pitchFamily="18" charset="0"/>
                <a:cs typeface="Times New Roman" pitchFamily="18" charset="0"/>
              </a:rPr>
              <a:t>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3) ChatGPT</a:t>
            </a:r>
          </a:p>
          <a:p>
            <a:r>
              <a:rPr lang="en-US" sz="2400" dirty="0" smtClean="0">
                <a:latin typeface="Times New Roman" pitchFamily="18" charset="0"/>
                <a:cs typeface="Times New Roman" pitchFamily="18" charset="0"/>
              </a:rPr>
              <a:t>Answer:</a:t>
            </a:r>
          </a:p>
          <a:p>
            <a:pPr lvl="1">
              <a:buNone/>
            </a:pPr>
            <a:r>
              <a:rPr lang="en-IN"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4) Self-driving Car</a:t>
            </a:r>
          </a:p>
          <a:p>
            <a:r>
              <a:rPr lang="en-US" sz="2400" dirty="0" smtClean="0">
                <a:latin typeface="Times New Roman" pitchFamily="18" charset="0"/>
                <a:cs typeface="Times New Roman" pitchFamily="18" charset="0"/>
              </a:rPr>
              <a:t>Answer:	</a:t>
            </a:r>
          </a:p>
          <a:p>
            <a:pPr lvl="1">
              <a:buNone/>
            </a:pPr>
            <a:r>
              <a:rPr lang="en-IN"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685800"/>
          </a:xfrm>
        </p:spPr>
        <p:txBody>
          <a:bodyPr>
            <a:normAutofit/>
          </a:bodyPr>
          <a:lstStyle/>
          <a:p>
            <a:r>
              <a:rPr lang="en-IN" sz="2800" b="1" u="sng" dirty="0" smtClean="0">
                <a:solidFill>
                  <a:schemeClr val="tx1"/>
                </a:solidFill>
                <a:latin typeface="Times New Roman" pitchFamily="18" charset="0"/>
                <a:cs typeface="Times New Roman" pitchFamily="18" charset="0"/>
              </a:rPr>
              <a:t>Answers</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219200" y="1066800"/>
            <a:ext cx="7714488" cy="5181600"/>
          </a:xfrm>
        </p:spPr>
        <p:txBody>
          <a:bodyPr>
            <a:normAutofit/>
          </a:bodyPr>
          <a:lstStyle/>
          <a:p>
            <a:r>
              <a:rPr lang="en-US" sz="2400" b="1" dirty="0" smtClean="0">
                <a:latin typeface="Times New Roman" pitchFamily="18" charset="0"/>
                <a:cs typeface="Times New Roman" pitchFamily="18" charset="0"/>
              </a:rPr>
              <a:t>Face Unlock</a:t>
            </a:r>
          </a:p>
          <a:p>
            <a:pPr>
              <a:buNone/>
            </a:pPr>
            <a:r>
              <a:rPr lang="en-US" sz="2400" dirty="0" smtClean="0">
                <a:latin typeface="Times New Roman" pitchFamily="18" charset="0"/>
                <a:cs typeface="Times New Roman" pitchFamily="18" charset="0"/>
              </a:rPr>
              <a:t>	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Computer Vision + Deep Learning</a:t>
            </a:r>
          </a:p>
          <a:p>
            <a:r>
              <a:rPr lang="en-US" sz="2400" b="1" dirty="0" smtClean="0">
                <a:latin typeface="Times New Roman" pitchFamily="18" charset="0"/>
                <a:cs typeface="Times New Roman" pitchFamily="18" charset="0"/>
              </a:rPr>
              <a:t>Google Translate</a:t>
            </a:r>
          </a:p>
          <a:p>
            <a:pPr>
              <a:buNone/>
            </a:pPr>
            <a:r>
              <a:rPr lang="en-US" sz="2400" dirty="0" smtClean="0">
                <a:latin typeface="Times New Roman" pitchFamily="18" charset="0"/>
                <a:cs typeface="Times New Roman" pitchFamily="18" charset="0"/>
              </a:rPr>
              <a:t>	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NLP</a:t>
            </a:r>
          </a:p>
          <a:p>
            <a:r>
              <a:rPr lang="en-US" sz="2400" b="1" dirty="0" smtClean="0">
                <a:latin typeface="Times New Roman" pitchFamily="18" charset="0"/>
                <a:cs typeface="Times New Roman" pitchFamily="18" charset="0"/>
              </a:rPr>
              <a:t>ChatGPT</a:t>
            </a:r>
          </a:p>
          <a:p>
            <a:pPr>
              <a:buNone/>
            </a:pPr>
            <a:r>
              <a:rPr lang="en-US" sz="2400" dirty="0" smtClean="0">
                <a:latin typeface="Times New Roman" pitchFamily="18" charset="0"/>
                <a:cs typeface="Times New Roman" pitchFamily="18" charset="0"/>
              </a:rPr>
              <a:t>	Answer:</a:t>
            </a:r>
          </a:p>
          <a:p>
            <a:pPr>
              <a:buNone/>
            </a:pPr>
            <a:r>
              <a:rPr lang="en-US" sz="2400" dirty="0" smtClean="0">
                <a:latin typeface="Times New Roman" pitchFamily="18" charset="0"/>
                <a:cs typeface="Times New Roman" pitchFamily="18" charset="0"/>
              </a:rPr>
              <a:t>	NLP + Deep Learning + Generative AI</a:t>
            </a:r>
          </a:p>
          <a:p>
            <a:r>
              <a:rPr lang="en-US" sz="2400" b="1" dirty="0" smtClean="0">
                <a:latin typeface="Times New Roman" pitchFamily="18" charset="0"/>
                <a:cs typeface="Times New Roman" pitchFamily="18" charset="0"/>
              </a:rPr>
              <a:t>Self-driving Car</a:t>
            </a:r>
          </a:p>
          <a:p>
            <a:pPr>
              <a:buNone/>
            </a:pPr>
            <a:r>
              <a:rPr lang="en-US" sz="2400" dirty="0" smtClean="0">
                <a:latin typeface="Times New Roman" pitchFamily="18" charset="0"/>
                <a:cs typeface="Times New Roman" pitchFamily="18" charset="0"/>
              </a:rPr>
              <a:t>	Answer:</a:t>
            </a:r>
          </a:p>
          <a:p>
            <a:pPr>
              <a:buNone/>
            </a:pPr>
            <a:r>
              <a:rPr lang="en-US" sz="2400" dirty="0" smtClean="0">
                <a:latin typeface="Times New Roman" pitchFamily="18" charset="0"/>
                <a:cs typeface="Times New Roman" pitchFamily="18" charset="0"/>
              </a:rPr>
              <a:t>	Computer Vision + ML + Robotics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685800"/>
          </a:xfrm>
        </p:spPr>
        <p:txBody>
          <a:bodyPr>
            <a:normAutofit/>
          </a:bodyPr>
          <a:lstStyle/>
          <a:p>
            <a:r>
              <a:rPr lang="en-US" sz="2800" b="1" u="sng" dirty="0" smtClean="0">
                <a:solidFill>
                  <a:schemeClr val="tx1"/>
                </a:solidFill>
                <a:latin typeface="Times New Roman" pitchFamily="18" charset="0"/>
                <a:cs typeface="Times New Roman" pitchFamily="18" charset="0"/>
              </a:rPr>
              <a:t>Artificial Intelligence (AI)</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609600"/>
            <a:ext cx="7943088" cy="5638800"/>
          </a:xfrm>
        </p:spPr>
        <p:txBody>
          <a:bodyPr>
            <a:normAutofit fontScale="55000" lnSpcReduction="20000"/>
          </a:bodyPr>
          <a:lstStyle/>
          <a:p>
            <a:r>
              <a:rPr lang="en-US" sz="3800" b="1" dirty="0" smtClean="0">
                <a:latin typeface="Times New Roman" pitchFamily="18" charset="0"/>
                <a:cs typeface="Times New Roman" pitchFamily="18" charset="0"/>
              </a:rPr>
              <a:t>Definition</a:t>
            </a:r>
          </a:p>
          <a:p>
            <a:pPr lvl="1">
              <a:buNone/>
            </a:pPr>
            <a:r>
              <a:rPr lang="en-US" sz="3800" dirty="0" smtClean="0">
                <a:latin typeface="Times New Roman" pitchFamily="18" charset="0"/>
                <a:cs typeface="Times New Roman" pitchFamily="18" charset="0"/>
              </a:rPr>
              <a:t>Artificial Intelligence enables machines to perform tasks that normally require human intelligence.</a:t>
            </a:r>
          </a:p>
          <a:p>
            <a:pPr lvl="1">
              <a:buNone/>
            </a:pPr>
            <a:endParaRPr lang="en-US" sz="3400" dirty="0" smtClean="0">
              <a:latin typeface="Times New Roman" pitchFamily="18" charset="0"/>
              <a:cs typeface="Times New Roman" pitchFamily="18" charset="0"/>
            </a:endParaRPr>
          </a:p>
          <a:p>
            <a:r>
              <a:rPr lang="en-US" sz="3800" b="1" dirty="0" smtClean="0">
                <a:latin typeface="Times New Roman" pitchFamily="18" charset="0"/>
                <a:cs typeface="Times New Roman" pitchFamily="18" charset="0"/>
              </a:rPr>
              <a:t>AI Capabilities</a:t>
            </a:r>
          </a:p>
          <a:p>
            <a:pPr lvl="1"/>
            <a:r>
              <a:rPr lang="en-US" sz="3800" dirty="0" smtClean="0">
                <a:latin typeface="Times New Roman" pitchFamily="18" charset="0"/>
                <a:cs typeface="Times New Roman" pitchFamily="18" charset="0"/>
              </a:rPr>
              <a:t>Learning </a:t>
            </a:r>
          </a:p>
          <a:p>
            <a:pPr lvl="1"/>
            <a:r>
              <a:rPr lang="en-US" sz="3800" dirty="0" smtClean="0">
                <a:latin typeface="Times New Roman" pitchFamily="18" charset="0"/>
                <a:cs typeface="Times New Roman" pitchFamily="18" charset="0"/>
              </a:rPr>
              <a:t>Reasoning </a:t>
            </a:r>
          </a:p>
          <a:p>
            <a:pPr lvl="1"/>
            <a:r>
              <a:rPr lang="en-US" sz="3800" dirty="0" smtClean="0">
                <a:latin typeface="Times New Roman" pitchFamily="18" charset="0"/>
                <a:cs typeface="Times New Roman" pitchFamily="18" charset="0"/>
              </a:rPr>
              <a:t>Planning </a:t>
            </a:r>
          </a:p>
          <a:p>
            <a:pPr lvl="1"/>
            <a:r>
              <a:rPr lang="en-US" sz="3800" dirty="0" smtClean="0">
                <a:latin typeface="Times New Roman" pitchFamily="18" charset="0"/>
                <a:cs typeface="Times New Roman" pitchFamily="18" charset="0"/>
              </a:rPr>
              <a:t>Decision Making </a:t>
            </a:r>
          </a:p>
          <a:p>
            <a:pPr lvl="1"/>
            <a:r>
              <a:rPr lang="en-US" sz="3800" dirty="0" smtClean="0">
                <a:latin typeface="Times New Roman" pitchFamily="18" charset="0"/>
                <a:cs typeface="Times New Roman" pitchFamily="18" charset="0"/>
              </a:rPr>
              <a:t>Problem Solving </a:t>
            </a:r>
          </a:p>
          <a:p>
            <a:pPr lvl="1">
              <a:buNone/>
            </a:pPr>
            <a:endParaRPr lang="en-US" sz="3800" dirty="0" smtClean="0">
              <a:latin typeface="Times New Roman" pitchFamily="18" charset="0"/>
              <a:cs typeface="Times New Roman" pitchFamily="18" charset="0"/>
            </a:endParaRPr>
          </a:p>
          <a:p>
            <a:r>
              <a:rPr lang="en-US" sz="3800" b="1" dirty="0" smtClean="0">
                <a:latin typeface="Times New Roman" pitchFamily="18" charset="0"/>
                <a:cs typeface="Times New Roman" pitchFamily="18" charset="0"/>
              </a:rPr>
              <a:t>Examples</a:t>
            </a:r>
          </a:p>
          <a:p>
            <a:pPr lvl="1"/>
            <a:r>
              <a:rPr lang="en-US" sz="3800" dirty="0" smtClean="0">
                <a:latin typeface="Times New Roman" pitchFamily="18" charset="0"/>
                <a:cs typeface="Times New Roman" pitchFamily="18" charset="0"/>
              </a:rPr>
              <a:t>Google Maps </a:t>
            </a:r>
          </a:p>
          <a:p>
            <a:pPr lvl="1"/>
            <a:r>
              <a:rPr lang="en-US" sz="3800" dirty="0" err="1" smtClean="0">
                <a:latin typeface="Times New Roman" pitchFamily="18" charset="0"/>
                <a:cs typeface="Times New Roman" pitchFamily="18" charset="0"/>
              </a:rPr>
              <a:t>Siri</a:t>
            </a:r>
            <a:r>
              <a:rPr lang="en-US" sz="3800" dirty="0" smtClean="0">
                <a:latin typeface="Times New Roman" pitchFamily="18" charset="0"/>
                <a:cs typeface="Times New Roman" pitchFamily="18" charset="0"/>
              </a:rPr>
              <a:t> </a:t>
            </a:r>
          </a:p>
          <a:p>
            <a:pPr lvl="1"/>
            <a:r>
              <a:rPr lang="en-US" sz="3800" dirty="0" err="1" smtClean="0">
                <a:latin typeface="Times New Roman" pitchFamily="18" charset="0"/>
                <a:cs typeface="Times New Roman" pitchFamily="18" charset="0"/>
              </a:rPr>
              <a:t>Alexa</a:t>
            </a:r>
            <a:r>
              <a:rPr lang="en-US" sz="3800" dirty="0" smtClean="0">
                <a:latin typeface="Times New Roman" pitchFamily="18" charset="0"/>
                <a:cs typeface="Times New Roman" pitchFamily="18" charset="0"/>
              </a:rPr>
              <a:t> </a:t>
            </a:r>
          </a:p>
          <a:p>
            <a:pPr lvl="1"/>
            <a:r>
              <a:rPr lang="en-US" sz="3800" dirty="0" smtClean="0">
                <a:latin typeface="Times New Roman" pitchFamily="18" charset="0"/>
                <a:cs typeface="Times New Roman" pitchFamily="18" charset="0"/>
              </a:rPr>
              <a:t>ChatGPT </a:t>
            </a:r>
          </a:p>
          <a:p>
            <a:pPr lvl="1"/>
            <a:r>
              <a:rPr lang="en-US" sz="3800" dirty="0" smtClean="0">
                <a:latin typeface="Times New Roman" pitchFamily="18" charset="0"/>
                <a:cs typeface="Times New Roman" pitchFamily="18" charset="0"/>
              </a:rPr>
              <a:t>Recommendation Systems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r>
              <a:rPr lang="en-US" b="1" dirty="0" smtClean="0">
                <a:latin typeface="Times New Roman" pitchFamily="18" charset="0"/>
                <a:cs typeface="Times New Roman" pitchFamily="18" charset="0"/>
              </a:rPr>
              <a:t>Activity 2</a:t>
            </a:r>
          </a:p>
          <a:p>
            <a:pPr>
              <a:buNone/>
            </a:pPr>
            <a:r>
              <a:rPr lang="en-US" b="1" dirty="0" smtClean="0">
                <a:latin typeface="Times New Roman" pitchFamily="18" charset="0"/>
                <a:cs typeface="Times New Roman" pitchFamily="18" charset="0"/>
              </a:rPr>
              <a:t>	Is it AI or Not?</a:t>
            </a:r>
          </a:p>
          <a:p>
            <a:r>
              <a:rPr lang="en-US" dirty="0" smtClean="0">
                <a:latin typeface="Times New Roman" pitchFamily="18" charset="0"/>
                <a:cs typeface="Times New Roman" pitchFamily="18" charset="0"/>
              </a:rPr>
              <a:t>Example                AI? (Yes/No)</a:t>
            </a:r>
          </a:p>
          <a:p>
            <a:pPr>
              <a:buNone/>
            </a:pPr>
            <a:r>
              <a:rPr lang="en-US" dirty="0" smtClean="0">
                <a:latin typeface="Times New Roman" pitchFamily="18" charset="0"/>
                <a:cs typeface="Times New Roman" pitchFamily="18" charset="0"/>
              </a:rPr>
              <a:t>   Calculator               </a:t>
            </a:r>
          </a:p>
          <a:p>
            <a:pPr>
              <a:buNone/>
            </a:pPr>
            <a:r>
              <a:rPr lang="en-US" dirty="0" smtClean="0">
                <a:latin typeface="Times New Roman" pitchFamily="18" charset="0"/>
                <a:cs typeface="Times New Roman" pitchFamily="18" charset="0"/>
              </a:rPr>
              <a:t>	Google Maps         </a:t>
            </a:r>
          </a:p>
          <a:p>
            <a:pPr>
              <a:buNone/>
            </a:pPr>
            <a:r>
              <a:rPr lang="en-US" dirty="0" smtClean="0">
                <a:latin typeface="Times New Roman" pitchFamily="18" charset="0"/>
                <a:cs typeface="Times New Roman" pitchFamily="18" charset="0"/>
              </a:rPr>
              <a:t>	YouTube Recommendation           </a:t>
            </a:r>
          </a:p>
          <a:p>
            <a:pPr>
              <a:buNone/>
            </a:pPr>
            <a:r>
              <a:rPr lang="en-US" dirty="0" smtClean="0">
                <a:latin typeface="Times New Roman" pitchFamily="18" charset="0"/>
                <a:cs typeface="Times New Roman" pitchFamily="18" charset="0"/>
              </a:rPr>
              <a:t>	Simple ATM Machine	   </a:t>
            </a:r>
          </a:p>
          <a:p>
            <a:pPr>
              <a:buNone/>
            </a:pPr>
            <a:r>
              <a:rPr lang="en-US" dirty="0" smtClean="0">
                <a:latin typeface="Times New Roman" pitchFamily="18" charset="0"/>
                <a:cs typeface="Times New Roman" pitchFamily="18" charset="0"/>
              </a:rPr>
              <a:t>   ChatGPT                             </a:t>
            </a:r>
          </a:p>
          <a:p>
            <a:pPr>
              <a:buNone/>
            </a:pPr>
            <a:r>
              <a:rPr lang="en-IN" dirty="0" smtClean="0">
                <a:latin typeface="Times New Roman" pitchFamily="18" charset="0"/>
                <a:cs typeface="Times New Roman" pitchFamily="18" charset="0"/>
              </a:rPr>
              <a:t>	Snapchat Filters</a:t>
            </a:r>
          </a:p>
          <a:p>
            <a:pPr>
              <a:buNone/>
            </a:pPr>
            <a:r>
              <a:rPr lang="en-IN" dirty="0" smtClean="0">
                <a:latin typeface="Times New Roman" pitchFamily="18" charset="0"/>
                <a:cs typeface="Times New Roman" pitchFamily="18" charset="0"/>
              </a:rPr>
              <a:t>	TV Remote control</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066800" y="228598"/>
          <a:ext cx="7543800" cy="6167122"/>
        </p:xfrm>
        <a:graphic>
          <a:graphicData uri="http://schemas.openxmlformats.org/drawingml/2006/table">
            <a:tbl>
              <a:tblPr firstRow="1" bandRow="1">
                <a:tableStyleId>{5C22544A-7EE6-4342-B048-85BDC9FD1C3A}</a:tableStyleId>
              </a:tblPr>
              <a:tblGrid>
                <a:gridCol w="3771900"/>
                <a:gridCol w="3771900"/>
              </a:tblGrid>
              <a:tr h="639275">
                <a:tc>
                  <a:txBody>
                    <a:bodyPr/>
                    <a:lstStyle/>
                    <a:p>
                      <a:r>
                        <a:rPr lang="en-IN" sz="2400" dirty="0" smtClean="0">
                          <a:latin typeface="Times New Roman" pitchFamily="18" charset="0"/>
                          <a:cs typeface="Times New Roman" pitchFamily="18" charset="0"/>
                        </a:rPr>
                        <a:t>Example</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Is It AI</a:t>
                      </a:r>
                      <a:r>
                        <a:rPr lang="en-IN" sz="2400" baseline="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Calculator</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No</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Google</a:t>
                      </a:r>
                      <a:r>
                        <a:rPr lang="en-IN" sz="2400" baseline="0" dirty="0" smtClean="0">
                          <a:latin typeface="Times New Roman" pitchFamily="18" charset="0"/>
                          <a:cs typeface="Times New Roman" pitchFamily="18" charset="0"/>
                        </a:rPr>
                        <a:t> </a:t>
                      </a:r>
                      <a:r>
                        <a:rPr lang="en-IN" sz="2400" baseline="0" dirty="0" err="1" smtClean="0">
                          <a:latin typeface="Times New Roman" pitchFamily="18" charset="0"/>
                          <a:cs typeface="Times New Roman" pitchFamily="18" charset="0"/>
                        </a:rPr>
                        <a:t>Aps</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1165736">
                <a:tc>
                  <a:txBody>
                    <a:bodyPr/>
                    <a:lstStyle/>
                    <a:p>
                      <a:r>
                        <a:rPr lang="en-IN" sz="2400" dirty="0" smtClean="0">
                          <a:latin typeface="Times New Roman" pitchFamily="18" charset="0"/>
                          <a:cs typeface="Times New Roman" pitchFamily="18" charset="0"/>
                        </a:rPr>
                        <a:t>You tube</a:t>
                      </a:r>
                      <a:r>
                        <a:rPr lang="en-IN" sz="2400" baseline="0" dirty="0" smtClean="0">
                          <a:latin typeface="Times New Roman" pitchFamily="18" charset="0"/>
                          <a:cs typeface="Times New Roman" pitchFamily="18" charset="0"/>
                        </a:rPr>
                        <a:t> recommendation</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1165736">
                <a:tc>
                  <a:txBody>
                    <a:bodyPr/>
                    <a:lstStyle/>
                    <a:p>
                      <a:r>
                        <a:rPr lang="en-IN" sz="2400" dirty="0" smtClean="0">
                          <a:latin typeface="Times New Roman" pitchFamily="18" charset="0"/>
                          <a:cs typeface="Times New Roman" pitchFamily="18" charset="0"/>
                        </a:rPr>
                        <a:t>Simple AT</a:t>
                      </a:r>
                      <a:r>
                        <a:rPr lang="en-IN" sz="2400" baseline="0" dirty="0" smtClean="0">
                          <a:latin typeface="Times New Roman" pitchFamily="18" charset="0"/>
                          <a:cs typeface="Times New Roman" pitchFamily="18" charset="0"/>
                        </a:rPr>
                        <a:t>M machine</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No</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Chat </a:t>
                      </a:r>
                      <a:r>
                        <a:rPr lang="en-IN" sz="2400" dirty="0" err="1" smtClean="0">
                          <a:latin typeface="Times New Roman" pitchFamily="18" charset="0"/>
                          <a:cs typeface="Times New Roman" pitchFamily="18" charset="0"/>
                        </a:rPr>
                        <a:t>Gpt</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Snapchat Filters</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TV</a:t>
                      </a:r>
                      <a:r>
                        <a:rPr lang="en-IN" sz="2400" baseline="0" dirty="0" smtClean="0">
                          <a:latin typeface="Times New Roman" pitchFamily="18" charset="0"/>
                          <a:cs typeface="Times New Roman" pitchFamily="18" charset="0"/>
                        </a:rPr>
                        <a:t> Remote Control</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No</a:t>
                      </a:r>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762000"/>
          </a:xfrm>
        </p:spPr>
        <p:txBody>
          <a:bodyPr>
            <a:normAutofit/>
          </a:bodyPr>
          <a:lstStyle/>
          <a:p>
            <a:r>
              <a:rPr lang="en-US" sz="3600" b="1" u="sng" dirty="0" smtClean="0">
                <a:solidFill>
                  <a:schemeClr val="tx1"/>
                </a:solidFill>
                <a:latin typeface="Times New Roman" pitchFamily="18" charset="0"/>
                <a:cs typeface="Times New Roman" pitchFamily="18" charset="0"/>
              </a:rPr>
              <a:t>Types of AI</a:t>
            </a:r>
            <a:endParaRPr lang="en-US" sz="36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838200"/>
            <a:ext cx="7943088" cy="6019800"/>
          </a:xfrm>
        </p:spPr>
        <p:txBody>
          <a:bodyPr>
            <a:noAutofit/>
          </a:bodyPr>
          <a:lstStyle/>
          <a:p>
            <a:pPr>
              <a:buNone/>
            </a:pPr>
            <a:r>
              <a:rPr lang="en-US" sz="2400" b="1" dirty="0" smtClean="0">
                <a:latin typeface="Times New Roman" pitchFamily="18" charset="0"/>
                <a:cs typeface="Times New Roman" pitchFamily="18" charset="0"/>
              </a:rPr>
              <a:t>1. Artificial Narrow Intelligence (ANI):- </a:t>
            </a:r>
            <a:r>
              <a:rPr lang="en-US" sz="2400" dirty="0" smtClean="0">
                <a:latin typeface="Times New Roman" pitchFamily="18" charset="0"/>
                <a:cs typeface="Times New Roman" pitchFamily="18" charset="0"/>
              </a:rPr>
              <a:t>Artificial Narrow Intelligence (ANI), or weak AI, refers to AI systems designed to excel at a single, highly specific task. </a:t>
            </a:r>
          </a:p>
          <a:p>
            <a:pPr>
              <a:buNone/>
            </a:pPr>
            <a:r>
              <a:rPr lang="en-US" sz="2400" b="1" dirty="0" smtClean="0">
                <a:latin typeface="Times New Roman" pitchFamily="18" charset="0"/>
                <a:cs typeface="Times New Roman" pitchFamily="18" charset="0"/>
              </a:rPr>
              <a:t>Examples:</a:t>
            </a:r>
          </a:p>
          <a:p>
            <a:pPr>
              <a:buNone/>
            </a:pPr>
            <a:r>
              <a:rPr lang="en-IN"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Most AI today.</a:t>
            </a:r>
          </a:p>
          <a:p>
            <a:pPr lvl="2">
              <a:buNone/>
            </a:pPr>
            <a:r>
              <a:rPr lang="en-US" dirty="0" smtClean="0">
                <a:latin typeface="Times New Roman" pitchFamily="18" charset="0"/>
                <a:cs typeface="Times New Roman" pitchFamily="18" charset="0"/>
              </a:rPr>
              <a:t>ChatGPT </a:t>
            </a:r>
          </a:p>
          <a:p>
            <a:pPr lvl="2">
              <a:buNone/>
            </a:pPr>
            <a:r>
              <a:rPr lang="en-US" dirty="0" smtClean="0">
                <a:latin typeface="Times New Roman" pitchFamily="18" charset="0"/>
                <a:cs typeface="Times New Roman" pitchFamily="18" charset="0"/>
              </a:rPr>
              <a:t>Google Translate </a:t>
            </a:r>
          </a:p>
          <a:p>
            <a:pPr lvl="2">
              <a:buNone/>
            </a:pPr>
            <a:r>
              <a:rPr lang="en-US" dirty="0" err="1" smtClean="0">
                <a:latin typeface="Times New Roman" pitchFamily="18" charset="0"/>
                <a:cs typeface="Times New Roman" pitchFamily="18" charset="0"/>
              </a:rPr>
              <a:t>Alexa</a:t>
            </a:r>
            <a:r>
              <a:rPr lang="en-US"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2. Artificial General Intelligence (AGI)</a:t>
            </a:r>
          </a:p>
          <a:p>
            <a:pPr lvl="1">
              <a:buNone/>
            </a:pPr>
            <a:r>
              <a:rPr lang="en-US" sz="2400" dirty="0" smtClean="0">
                <a:latin typeface="Times New Roman" pitchFamily="18" charset="0"/>
                <a:cs typeface="Times New Roman" pitchFamily="18" charset="0"/>
              </a:rPr>
              <a:t>AI system which develop Human-level intelligence.</a:t>
            </a:r>
          </a:p>
          <a:p>
            <a:pPr lvl="1">
              <a:buNone/>
            </a:pPr>
            <a:r>
              <a:rPr lang="en-US" sz="2400" dirty="0" smtClean="0">
                <a:latin typeface="Times New Roman" pitchFamily="18" charset="0"/>
                <a:cs typeface="Times New Roman" pitchFamily="18" charset="0"/>
              </a:rPr>
              <a:t>Not achieved yet.</a:t>
            </a:r>
          </a:p>
          <a:p>
            <a:pPr>
              <a:buNone/>
            </a:pPr>
            <a:r>
              <a:rPr lang="en-US" sz="2400" b="1" dirty="0" smtClean="0">
                <a:latin typeface="Times New Roman" pitchFamily="18" charset="0"/>
                <a:cs typeface="Times New Roman" pitchFamily="18" charset="0"/>
              </a:rPr>
              <a:t>3. Artificial Super Intelligence (ASI)</a:t>
            </a:r>
          </a:p>
          <a:p>
            <a:pPr>
              <a:buNone/>
            </a:pPr>
            <a:r>
              <a:rPr lang="en-US" sz="2400" dirty="0" smtClean="0">
                <a:latin typeface="Times New Roman" pitchFamily="18" charset="0"/>
                <a:cs typeface="Times New Roman" pitchFamily="18" charset="0"/>
              </a:rPr>
              <a:t>	AI beyond human intelligence.</a:t>
            </a:r>
          </a:p>
          <a:p>
            <a:pPr>
              <a:buNone/>
            </a:pPr>
            <a:r>
              <a:rPr lang="en-US" sz="2400" dirty="0" smtClean="0">
                <a:latin typeface="Times New Roman" pitchFamily="18" charset="0"/>
                <a:cs typeface="Times New Roman" pitchFamily="18" charset="0"/>
              </a:rPr>
              <a:t>	Future concept.</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lnSpcReduction="10000"/>
          </a:bodyPr>
          <a:lstStyle/>
          <a:p>
            <a:pPr>
              <a:buNone/>
            </a:pPr>
            <a:r>
              <a:rPr lang="en-US" sz="2800" b="1" u="sng" dirty="0" smtClean="0">
                <a:latin typeface="Times New Roman" pitchFamily="18" charset="0"/>
                <a:cs typeface="Times New Roman" pitchFamily="18" charset="0"/>
              </a:rPr>
              <a:t>Machine Learning</a:t>
            </a:r>
          </a:p>
          <a:p>
            <a:pPr>
              <a:buNone/>
            </a:pPr>
            <a:r>
              <a:rPr lang="en-US" sz="2800" b="1" dirty="0" smtClean="0">
                <a:latin typeface="Times New Roman" pitchFamily="18" charset="0"/>
                <a:cs typeface="Times New Roman" pitchFamily="18" charset="0"/>
              </a:rPr>
              <a:t>	Definition</a:t>
            </a:r>
          </a:p>
          <a:p>
            <a:pPr>
              <a:buNone/>
            </a:pPr>
            <a:r>
              <a:rPr lang="en-US" sz="2800" dirty="0" smtClean="0">
                <a:latin typeface="Times New Roman" pitchFamily="18" charset="0"/>
                <a:cs typeface="Times New Roman" pitchFamily="18" charset="0"/>
              </a:rPr>
              <a:t>		</a:t>
            </a:r>
          </a:p>
          <a:p>
            <a:pPr>
              <a:buNone/>
            </a:pPr>
            <a:r>
              <a:rPr lang="en-US" sz="2800" dirty="0" smtClean="0">
                <a:latin typeface="Times New Roman" pitchFamily="18" charset="0"/>
                <a:cs typeface="Times New Roman" pitchFamily="18" charset="0"/>
              </a:rPr>
              <a:t>		Machine Learning allows computers to learn from data without being explicitly programmed.</a:t>
            </a:r>
          </a:p>
          <a:p>
            <a:pPr>
              <a:buNone/>
            </a:pPr>
            <a:r>
              <a:rPr lang="en-US" sz="2800" b="1" dirty="0" smtClean="0">
                <a:latin typeface="Times New Roman" pitchFamily="18" charset="0"/>
                <a:cs typeface="Times New Roman" pitchFamily="18" charset="0"/>
              </a:rPr>
              <a:t>	Traditional Programming</a:t>
            </a:r>
          </a:p>
          <a:p>
            <a:pPr>
              <a:buNone/>
            </a:pPr>
            <a:r>
              <a:rPr lang="en-IN" sz="2800" b="1"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Rules + Data  (C tokens, function, keywords)</a:t>
            </a:r>
          </a:p>
          <a:p>
            <a:pPr>
              <a:buNone/>
            </a:pPr>
            <a:r>
              <a:rPr lang="en-US" sz="2800" dirty="0" smtClean="0">
                <a:latin typeface="Times New Roman" pitchFamily="18" charset="0"/>
                <a:cs typeface="Times New Roman" pitchFamily="18" charset="0"/>
              </a:rPr>
              <a:t>		Program </a:t>
            </a:r>
          </a:p>
          <a:p>
            <a:pPr>
              <a:buNone/>
            </a:pPr>
            <a:r>
              <a:rPr lang="en-US" sz="2800" dirty="0" smtClean="0">
                <a:latin typeface="Times New Roman" pitchFamily="18" charset="0"/>
                <a:cs typeface="Times New Roman" pitchFamily="18" charset="0"/>
              </a:rPr>
              <a:t>		Output (</a:t>
            </a:r>
            <a:r>
              <a:rPr lang="en-US" sz="2800" dirty="0" err="1" smtClean="0">
                <a:latin typeface="Times New Roman" pitchFamily="18" charset="0"/>
                <a:cs typeface="Times New Roman" pitchFamily="18" charset="0"/>
              </a:rPr>
              <a:t>sum.c</a:t>
            </a: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cal.c</a:t>
            </a:r>
            <a:r>
              <a:rPr lang="en-US" sz="2800" dirty="0" smtClean="0">
                <a:latin typeface="Times New Roman" pitchFamily="18" charset="0"/>
                <a:cs typeface="Times New Roman" pitchFamily="18" charset="0"/>
              </a:rPr>
              <a:t>)</a:t>
            </a:r>
          </a:p>
          <a:p>
            <a:r>
              <a:rPr lang="en-US" sz="2800" b="1" dirty="0" smtClean="0">
                <a:latin typeface="Times New Roman" pitchFamily="18" charset="0"/>
                <a:cs typeface="Times New Roman" pitchFamily="18" charset="0"/>
              </a:rPr>
              <a:t>Machine Learning</a:t>
            </a:r>
          </a:p>
          <a:p>
            <a:pPr lvl="1">
              <a:buNone/>
            </a:pPr>
            <a:r>
              <a:rPr lang="en-US" sz="2400" dirty="0" smtClean="0">
                <a:latin typeface="Times New Roman" pitchFamily="18" charset="0"/>
                <a:cs typeface="Times New Roman" pitchFamily="18" charset="0"/>
              </a:rPr>
              <a:t>	Data + Output Examples  (C tokens, function, keywords + examples)</a:t>
            </a:r>
          </a:p>
          <a:p>
            <a:pPr lvl="1">
              <a:buNone/>
            </a:pPr>
            <a:r>
              <a:rPr lang="en-US" sz="2400" dirty="0" smtClean="0">
                <a:latin typeface="Times New Roman" pitchFamily="18" charset="0"/>
                <a:cs typeface="Times New Roman" pitchFamily="18" charset="0"/>
              </a:rPr>
              <a:t>	ML Model (supervised, unsupervised, reinforcement)</a:t>
            </a:r>
          </a:p>
          <a:p>
            <a:pPr lvl="1">
              <a:buNone/>
            </a:pPr>
            <a:r>
              <a:rPr lang="en-US" sz="2400" dirty="0" smtClean="0">
                <a:latin typeface="Times New Roman" pitchFamily="18" charset="0"/>
                <a:cs typeface="Times New Roman" pitchFamily="18" charset="0"/>
              </a:rPr>
              <a:t>	Learn Rules</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914400"/>
          </a:xfrm>
        </p:spPr>
        <p:txBody>
          <a:bodyPr>
            <a:normAutofit/>
          </a:bodyPr>
          <a:lstStyle/>
          <a:p>
            <a:r>
              <a:rPr lang="en-US" sz="2800" b="1" u="sng" dirty="0" smtClean="0">
                <a:solidFill>
                  <a:schemeClr val="tx1"/>
                </a:solidFill>
                <a:latin typeface="Times New Roman" pitchFamily="18" charset="0"/>
                <a:cs typeface="Times New Roman" pitchFamily="18" charset="0"/>
              </a:rPr>
              <a:t>Example: Spam Detection</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066800" y="838200"/>
            <a:ext cx="7866888" cy="5867400"/>
          </a:xfrm>
        </p:spPr>
        <p:txBody>
          <a:bodyPr>
            <a:noAutofit/>
          </a:bodyPr>
          <a:lstStyle/>
          <a:p>
            <a:pPr>
              <a:buNone/>
            </a:pPr>
            <a:r>
              <a:rPr lang="en-US" sz="2800" b="1" dirty="0" smtClean="0">
                <a:latin typeface="Times New Roman" pitchFamily="18" charset="0"/>
                <a:cs typeface="Times New Roman" pitchFamily="18" charset="0"/>
              </a:rPr>
              <a:t>Traditional Approach:</a:t>
            </a:r>
          </a:p>
          <a:p>
            <a:pPr>
              <a:buNone/>
            </a:pPr>
            <a:r>
              <a:rPr lang="en-US" sz="2800" dirty="0" smtClean="0">
                <a:latin typeface="Times New Roman" pitchFamily="18" charset="0"/>
                <a:cs typeface="Times New Roman" pitchFamily="18" charset="0"/>
              </a:rPr>
              <a:t>	Create rules:</a:t>
            </a:r>
          </a:p>
          <a:p>
            <a:pPr lvl="1"/>
            <a:r>
              <a:rPr lang="en-US" sz="2400" dirty="0" smtClean="0">
                <a:latin typeface="Times New Roman" pitchFamily="18" charset="0"/>
                <a:cs typeface="Times New Roman" pitchFamily="18" charset="0"/>
              </a:rPr>
              <a:t>Contains "free money" </a:t>
            </a:r>
          </a:p>
          <a:p>
            <a:pPr lvl="1"/>
            <a:r>
              <a:rPr lang="en-US" sz="2400" dirty="0" smtClean="0">
                <a:latin typeface="Times New Roman" pitchFamily="18" charset="0"/>
                <a:cs typeface="Times New Roman" pitchFamily="18" charset="0"/>
              </a:rPr>
              <a:t>Unknown sender </a:t>
            </a:r>
          </a:p>
          <a:p>
            <a:pPr lvl="1"/>
            <a:r>
              <a:rPr lang="en-US" sz="2400" dirty="0" smtClean="0">
                <a:latin typeface="Times New Roman" pitchFamily="18" charset="0"/>
                <a:cs typeface="Times New Roman" pitchFamily="18" charset="0"/>
              </a:rPr>
              <a:t>Suspicious links </a:t>
            </a:r>
          </a:p>
          <a:p>
            <a:pPr>
              <a:buNone/>
            </a:pPr>
            <a:r>
              <a:rPr lang="en-US" sz="2800" dirty="0" smtClean="0">
                <a:latin typeface="Times New Roman" pitchFamily="18" charset="0"/>
                <a:cs typeface="Times New Roman" pitchFamily="18" charset="0"/>
              </a:rPr>
              <a:t>	Problem:</a:t>
            </a:r>
          </a:p>
          <a:p>
            <a:pPr>
              <a:buNone/>
            </a:pPr>
            <a:r>
              <a:rPr lang="en-US" sz="2800" dirty="0" smtClean="0">
                <a:latin typeface="Times New Roman" pitchFamily="18" charset="0"/>
                <a:cs typeface="Times New Roman" pitchFamily="18" charset="0"/>
              </a:rPr>
              <a:t>		* Too many rules.</a:t>
            </a:r>
          </a:p>
          <a:p>
            <a:pPr>
              <a:buNone/>
            </a:pPr>
            <a:r>
              <a:rPr lang="en-US" sz="2800" dirty="0" smtClean="0">
                <a:latin typeface="Times New Roman" pitchFamily="18" charset="0"/>
                <a:cs typeface="Times New Roman" pitchFamily="18" charset="0"/>
              </a:rPr>
              <a:t>	Machine Learning:- </a:t>
            </a:r>
          </a:p>
          <a:p>
            <a:pPr>
              <a:buNone/>
            </a:pPr>
            <a:endParaRPr lang="en-US" sz="2800" dirty="0" smtClean="0">
              <a:latin typeface="Times New Roman" pitchFamily="18" charset="0"/>
              <a:cs typeface="Times New Roman" pitchFamily="18" charset="0"/>
            </a:endParaRPr>
          </a:p>
          <a:p>
            <a:pPr lvl="2"/>
            <a:r>
              <a:rPr lang="en-US" dirty="0" smtClean="0">
                <a:latin typeface="Times New Roman" pitchFamily="18" charset="0"/>
                <a:cs typeface="Times New Roman" pitchFamily="18" charset="0"/>
              </a:rPr>
              <a:t>Give thousands of emails.</a:t>
            </a:r>
          </a:p>
          <a:p>
            <a:pPr lvl="2"/>
            <a:r>
              <a:rPr lang="en-US" dirty="0" smtClean="0">
                <a:latin typeface="Times New Roman" pitchFamily="18" charset="0"/>
                <a:cs typeface="Times New Roman" pitchFamily="18" charset="0"/>
              </a:rPr>
              <a:t>AI learns patterns.</a:t>
            </a:r>
          </a:p>
          <a:p>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838200"/>
          </a:xfrm>
        </p:spPr>
        <p:txBody>
          <a:bodyPr>
            <a:normAutofit/>
          </a:bodyPr>
          <a:lstStyle/>
          <a:p>
            <a:r>
              <a:rPr lang="en-US" sz="2800" b="1" u="sng" dirty="0" smtClean="0">
                <a:solidFill>
                  <a:schemeClr val="tx1"/>
                </a:solidFill>
                <a:latin typeface="Times New Roman" pitchFamily="18" charset="0"/>
                <a:cs typeface="Times New Roman" pitchFamily="18" charset="0"/>
              </a:rPr>
              <a:t>Types of Machine Learning</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762000"/>
            <a:ext cx="7943088" cy="6096000"/>
          </a:xfrm>
        </p:spPr>
        <p:txBody>
          <a:bodyPr>
            <a:normAutofit fontScale="92500" lnSpcReduction="20000"/>
          </a:bodyPr>
          <a:lstStyle/>
          <a:p>
            <a:pPr marL="596646" indent="-514350">
              <a:buFont typeface="+mj-lt"/>
              <a:buAutoNum type="arabicPeriod"/>
            </a:pPr>
            <a:r>
              <a:rPr lang="en-IN" dirty="0" smtClean="0">
                <a:latin typeface="Times New Roman" pitchFamily="18" charset="0"/>
                <a:cs typeface="Times New Roman" pitchFamily="18" charset="0"/>
              </a:rPr>
              <a:t>Supervised learning</a:t>
            </a:r>
          </a:p>
          <a:p>
            <a:pPr marL="596646" indent="-514350">
              <a:buFont typeface="+mj-lt"/>
              <a:buAutoNum type="arabicPeriod"/>
            </a:pPr>
            <a:r>
              <a:rPr lang="en-IN" dirty="0" smtClean="0">
                <a:latin typeface="Times New Roman" pitchFamily="18" charset="0"/>
                <a:cs typeface="Times New Roman" pitchFamily="18" charset="0"/>
              </a:rPr>
              <a:t>Unsupervised learning</a:t>
            </a:r>
          </a:p>
          <a:p>
            <a:pPr marL="596646" indent="-514350">
              <a:buFont typeface="+mj-lt"/>
              <a:buAutoNum type="arabicPeriod"/>
            </a:pPr>
            <a:r>
              <a:rPr lang="en-IN" dirty="0" smtClean="0">
                <a:latin typeface="Times New Roman" pitchFamily="18" charset="0"/>
                <a:cs typeface="Times New Roman" pitchFamily="18" charset="0"/>
              </a:rPr>
              <a:t>Reinforcement learning’</a:t>
            </a:r>
          </a:p>
          <a:p>
            <a:pPr marL="596646" indent="-514350">
              <a:buNone/>
            </a:pPr>
            <a:endParaRPr lang="en-IN" dirty="0" smtClean="0">
              <a:latin typeface="Times New Roman" pitchFamily="18" charset="0"/>
              <a:cs typeface="Times New Roman" pitchFamily="18" charset="0"/>
            </a:endParaRPr>
          </a:p>
          <a:p>
            <a:pPr marL="596646" indent="-514350">
              <a:buNone/>
            </a:pPr>
            <a:r>
              <a:rPr lang="en-US" b="1" dirty="0" smtClean="0">
                <a:latin typeface="Times New Roman" pitchFamily="18" charset="0"/>
                <a:cs typeface="Times New Roman" pitchFamily="18" charset="0"/>
              </a:rPr>
              <a:t>Supervised Learning</a:t>
            </a:r>
          </a:p>
          <a:p>
            <a:pPr marL="596646" indent="-514350">
              <a:buNone/>
            </a:pPr>
            <a:r>
              <a:rPr lang="en-US" dirty="0" smtClean="0">
                <a:latin typeface="Times New Roman" pitchFamily="18" charset="0"/>
                <a:cs typeface="Times New Roman" pitchFamily="18" charset="0"/>
              </a:rPr>
              <a:t>	Learning with </a:t>
            </a:r>
            <a:r>
              <a:rPr lang="en-US" dirty="0" err="1" smtClean="0">
                <a:latin typeface="Times New Roman" pitchFamily="18" charset="0"/>
                <a:cs typeface="Times New Roman" pitchFamily="18" charset="0"/>
              </a:rPr>
              <a:t>labelled</a:t>
            </a:r>
            <a:r>
              <a:rPr lang="en-US" dirty="0" smtClean="0">
                <a:latin typeface="Times New Roman" pitchFamily="18" charset="0"/>
                <a:cs typeface="Times New Roman" pitchFamily="18" charset="0"/>
              </a:rPr>
              <a:t> data.</a:t>
            </a:r>
          </a:p>
          <a:p>
            <a:pPr marL="596646" indent="-514350">
              <a:buNone/>
            </a:pPr>
            <a:r>
              <a:rPr lang="en-US" dirty="0" smtClean="0">
                <a:latin typeface="Times New Roman" pitchFamily="18" charset="0"/>
                <a:cs typeface="Times New Roman" pitchFamily="18" charset="0"/>
              </a:rPr>
              <a:t>Examples:</a:t>
            </a:r>
          </a:p>
          <a:p>
            <a:pPr marL="596646" indent="-514350"/>
            <a:r>
              <a:rPr lang="en-US" dirty="0" smtClean="0">
                <a:latin typeface="Times New Roman" pitchFamily="18" charset="0"/>
                <a:cs typeface="Times New Roman" pitchFamily="18" charset="0"/>
              </a:rPr>
              <a:t>Spam Detection </a:t>
            </a:r>
          </a:p>
          <a:p>
            <a:pPr marL="596646" indent="-514350"/>
            <a:r>
              <a:rPr lang="en-US" dirty="0" smtClean="0">
                <a:latin typeface="Times New Roman" pitchFamily="18" charset="0"/>
                <a:cs typeface="Times New Roman" pitchFamily="18" charset="0"/>
              </a:rPr>
              <a:t>Disease Prediction </a:t>
            </a:r>
          </a:p>
          <a:p>
            <a:pPr marL="596646" indent="-514350"/>
            <a:r>
              <a:rPr lang="en-US" dirty="0" smtClean="0">
                <a:latin typeface="Times New Roman" pitchFamily="18" charset="0"/>
                <a:cs typeface="Times New Roman" pitchFamily="18" charset="0"/>
              </a:rPr>
              <a:t>Student Result Prediction</a:t>
            </a:r>
          </a:p>
          <a:p>
            <a:pPr marL="596646" indent="-514350">
              <a:buNone/>
            </a:pPr>
            <a:r>
              <a:rPr lang="en-US" dirty="0" smtClean="0">
                <a:latin typeface="Times New Roman" pitchFamily="18" charset="0"/>
                <a:cs typeface="Times New Roman" pitchFamily="18" charset="0"/>
              </a:rPr>
              <a:t>Supervised learning is exactly like studying for an exam using a practice quiz that includes the answer key.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781800"/>
          </a:xfrm>
        </p:spPr>
        <p:txBody>
          <a:bodyPr>
            <a:normAutofit/>
          </a:bodyPr>
          <a:lstStyle/>
          <a:p>
            <a:pPr>
              <a:buNone/>
            </a:pPr>
            <a:r>
              <a:rPr lang="en-US" sz="2400" b="1" dirty="0" smtClean="0">
                <a:latin typeface="Times New Roman" pitchFamily="18" charset="0"/>
                <a:cs typeface="Times New Roman" pitchFamily="18" charset="0"/>
              </a:rPr>
              <a:t>Unsupervised Learning</a:t>
            </a:r>
          </a:p>
          <a:p>
            <a:pPr lvl="1">
              <a:buNone/>
            </a:pPr>
            <a:r>
              <a:rPr lang="en-US" sz="2400" dirty="0" smtClean="0">
                <a:latin typeface="Times New Roman" pitchFamily="18" charset="0"/>
                <a:cs typeface="Times New Roman" pitchFamily="18" charset="0"/>
              </a:rPr>
              <a:t>Finding hidden patterns.</a:t>
            </a:r>
          </a:p>
          <a:p>
            <a:pPr lvl="1">
              <a:buNone/>
            </a:pPr>
            <a:r>
              <a:rPr lang="en-US" sz="2400" dirty="0" smtClean="0">
                <a:latin typeface="Times New Roman" pitchFamily="18" charset="0"/>
                <a:cs typeface="Times New Roman" pitchFamily="18" charset="0"/>
              </a:rPr>
              <a:t>Examples:</a:t>
            </a:r>
          </a:p>
          <a:p>
            <a:pPr lvl="2">
              <a:buNone/>
            </a:pPr>
            <a:r>
              <a:rPr lang="en-US" dirty="0" smtClean="0">
                <a:latin typeface="Times New Roman" pitchFamily="18" charset="0"/>
                <a:cs typeface="Times New Roman" pitchFamily="18" charset="0"/>
              </a:rPr>
              <a:t>Customer Segmentation </a:t>
            </a:r>
          </a:p>
          <a:p>
            <a:pPr lvl="2">
              <a:buNone/>
            </a:pPr>
            <a:r>
              <a:rPr lang="en-US" dirty="0" smtClean="0">
                <a:latin typeface="Times New Roman" pitchFamily="18" charset="0"/>
                <a:cs typeface="Times New Roman" pitchFamily="18" charset="0"/>
              </a:rPr>
              <a:t>Shopping Behavior</a:t>
            </a:r>
          </a:p>
          <a:p>
            <a:endParaRPr lang="en-US" sz="2400" b="1"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Unsupervised learning is like walking into a massive library where none of the books have covers, titles, or genres written on them—and there is no librarian or answer key to help you.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Instead of checking an answer key, the AI must explore the books on its own, find similarities in how they are written, and automatically group them together (e.g., grouping books with magic spells into one pile, and books with spaceships into another).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lnSpcReduction="10000"/>
          </a:bodyPr>
          <a:lstStyle/>
          <a:p>
            <a:pPr>
              <a:buNone/>
            </a:pPr>
            <a:r>
              <a:rPr lang="en-US" sz="2400" b="1" dirty="0" smtClean="0">
                <a:latin typeface="Times New Roman" pitchFamily="18" charset="0"/>
                <a:cs typeface="Times New Roman" pitchFamily="18" charset="0"/>
              </a:rPr>
              <a:t>Reinforcement Learning</a:t>
            </a:r>
          </a:p>
          <a:p>
            <a:pPr lvl="1">
              <a:buNone/>
            </a:pPr>
            <a:r>
              <a:rPr lang="en-US" sz="2400" dirty="0" smtClean="0">
                <a:latin typeface="Times New Roman" pitchFamily="18" charset="0"/>
                <a:cs typeface="Times New Roman" pitchFamily="18" charset="0"/>
              </a:rPr>
              <a:t>Learning through rewards.</a:t>
            </a:r>
          </a:p>
          <a:p>
            <a:pPr lvl="1">
              <a:buNone/>
            </a:pPr>
            <a:r>
              <a:rPr lang="en-US" sz="2400" dirty="0" smtClean="0">
                <a:latin typeface="Times New Roman" pitchFamily="18" charset="0"/>
                <a:cs typeface="Times New Roman" pitchFamily="18" charset="0"/>
              </a:rPr>
              <a:t>Examples:</a:t>
            </a:r>
          </a:p>
          <a:p>
            <a:pPr lvl="2">
              <a:buNone/>
            </a:pPr>
            <a:r>
              <a:rPr lang="en-US" dirty="0" smtClean="0">
                <a:latin typeface="Times New Roman" pitchFamily="18" charset="0"/>
                <a:cs typeface="Times New Roman" pitchFamily="18" charset="0"/>
              </a:rPr>
              <a:t>Game AI </a:t>
            </a:r>
          </a:p>
          <a:p>
            <a:pPr lvl="2">
              <a:buNone/>
            </a:pPr>
            <a:r>
              <a:rPr lang="en-US" dirty="0" smtClean="0">
                <a:latin typeface="Times New Roman" pitchFamily="18" charset="0"/>
                <a:cs typeface="Times New Roman" pitchFamily="18" charset="0"/>
              </a:rPr>
              <a:t>Robots </a:t>
            </a:r>
          </a:p>
          <a:p>
            <a:pPr lvl="2">
              <a:buNone/>
            </a:pPr>
            <a:r>
              <a:rPr lang="en-US" dirty="0" smtClean="0">
                <a:latin typeface="Times New Roman" pitchFamily="18" charset="0"/>
                <a:cs typeface="Times New Roman" pitchFamily="18" charset="0"/>
              </a:rPr>
              <a:t>Self-driving cars</a:t>
            </a:r>
            <a:endParaRPr lang="en-US" sz="20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Reinforcement learning is exactly like training a puppy to do a trick using treats and time-outs.</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AI does not have an answer key, and it does not have a teacher telling it what to do. Instead, it is dropped into an environment and forced to learn through trial and error. When it does something right, it gets a "reward" (a digital treat). When it crashes or fails, it gets a "punishment" (a penalty score).</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a:bodyPr>
          <a:lstStyle/>
          <a:p>
            <a:pPr>
              <a:buNone/>
            </a:pPr>
            <a:r>
              <a:rPr lang="en-US" sz="2800" b="1" dirty="0" smtClean="0">
                <a:latin typeface="Times New Roman" pitchFamily="18" charset="0"/>
                <a:cs typeface="Times New Roman" pitchFamily="18" charset="0"/>
              </a:rPr>
              <a:t>Activity 3</a:t>
            </a:r>
          </a:p>
          <a:p>
            <a:pPr>
              <a:buNone/>
            </a:pPr>
            <a:r>
              <a:rPr lang="en-US" dirty="0" smtClean="0">
                <a:latin typeface="Times New Roman" pitchFamily="18" charset="0"/>
                <a:cs typeface="Times New Roman" pitchFamily="18" charset="0"/>
              </a:rPr>
              <a:t>Q- Which ML type is used?</a:t>
            </a:r>
          </a:p>
          <a:p>
            <a:pPr>
              <a:buNone/>
            </a:pPr>
            <a:r>
              <a:rPr lang="en-US" dirty="0" smtClean="0">
                <a:latin typeface="Times New Roman" pitchFamily="18" charset="0"/>
                <a:cs typeface="Times New Roman" pitchFamily="18" charset="0"/>
              </a:rPr>
              <a:t>1) Predict house price </a:t>
            </a:r>
          </a:p>
          <a:p>
            <a:pPr>
              <a:buNone/>
            </a:pPr>
            <a:r>
              <a:rPr lang="en-US" dirty="0" smtClean="0">
                <a:latin typeface="Times New Roman" pitchFamily="18" charset="0"/>
                <a:cs typeface="Times New Roman" pitchFamily="18" charset="0"/>
              </a:rPr>
              <a:t>	Answer: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2) Group customers based on shopping </a:t>
            </a:r>
          </a:p>
          <a:p>
            <a:pPr>
              <a:buNone/>
            </a:pPr>
            <a:r>
              <a:rPr lang="en-US" dirty="0" smtClean="0">
                <a:latin typeface="Times New Roman" pitchFamily="18" charset="0"/>
                <a:cs typeface="Times New Roman" pitchFamily="18" charset="0"/>
              </a:rPr>
              <a:t>	Answer: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3) Robot learning walking </a:t>
            </a:r>
          </a:p>
          <a:p>
            <a:pPr>
              <a:buNone/>
            </a:pPr>
            <a:r>
              <a:rPr lang="en-US" dirty="0" smtClean="0">
                <a:latin typeface="Times New Roman" pitchFamily="18" charset="0"/>
                <a:cs typeface="Times New Roman" pitchFamily="18" charset="0"/>
              </a:rPr>
              <a:t>	Answer: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52400"/>
            <a:ext cx="7790688" cy="6096000"/>
          </a:xfrm>
        </p:spPr>
        <p:txBody>
          <a:bodyPr/>
          <a:lstStyle/>
          <a:p>
            <a:pPr>
              <a:buNone/>
            </a:pPr>
            <a:r>
              <a:rPr lang="en-IN" sz="2800" dirty="0" smtClean="0">
                <a:latin typeface="Times New Roman" pitchFamily="18" charset="0"/>
                <a:cs typeface="Times New Roman" pitchFamily="18" charset="0"/>
              </a:rPr>
              <a:t>Answers:- </a:t>
            </a:r>
          </a:p>
          <a:p>
            <a:pPr>
              <a:buNone/>
            </a:pPr>
            <a:endParaRPr lang="en-IN" sz="2800" dirty="0" smtClean="0">
              <a:latin typeface="Times New Roman" pitchFamily="18" charset="0"/>
              <a:cs typeface="Times New Roman" pitchFamily="18" charset="0"/>
            </a:endParaRPr>
          </a:p>
          <a:p>
            <a:pPr>
              <a:buNone/>
            </a:pPr>
            <a:r>
              <a:rPr lang="en-US" sz="2800" b="1" dirty="0" smtClean="0">
                <a:latin typeface="Times New Roman" pitchFamily="18" charset="0"/>
                <a:cs typeface="Times New Roman" pitchFamily="18" charset="0"/>
              </a:rPr>
              <a:t>Predict house price </a:t>
            </a:r>
          </a:p>
          <a:p>
            <a:pPr>
              <a:buNone/>
            </a:pPr>
            <a:r>
              <a:rPr lang="en-US" sz="2800" dirty="0" smtClean="0">
                <a:latin typeface="Times New Roman" pitchFamily="18" charset="0"/>
                <a:cs typeface="Times New Roman" pitchFamily="18" charset="0"/>
              </a:rPr>
              <a:t>Answer:</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Supervised</a:t>
            </a:r>
          </a:p>
          <a:p>
            <a:pPr>
              <a:buNone/>
            </a:pPr>
            <a:r>
              <a:rPr lang="en-US" sz="2800" b="1" dirty="0" smtClean="0">
                <a:latin typeface="Times New Roman" pitchFamily="18" charset="0"/>
                <a:cs typeface="Times New Roman" pitchFamily="18" charset="0"/>
              </a:rPr>
              <a:t>Group customers based on shopping </a:t>
            </a:r>
          </a:p>
          <a:p>
            <a:pPr>
              <a:buNone/>
            </a:pPr>
            <a:r>
              <a:rPr lang="en-US" sz="2800" dirty="0" smtClean="0">
                <a:latin typeface="Times New Roman" pitchFamily="18" charset="0"/>
                <a:cs typeface="Times New Roman" pitchFamily="18" charset="0"/>
              </a:rPr>
              <a:t>Answer:</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Unsupervised</a:t>
            </a:r>
          </a:p>
          <a:p>
            <a:pPr>
              <a:buNone/>
            </a:pPr>
            <a:r>
              <a:rPr lang="en-US" sz="2800" b="1" dirty="0" smtClean="0">
                <a:latin typeface="Times New Roman" pitchFamily="18" charset="0"/>
                <a:cs typeface="Times New Roman" pitchFamily="18" charset="0"/>
              </a:rPr>
              <a:t>Robot learning walking </a:t>
            </a:r>
          </a:p>
          <a:p>
            <a:pPr>
              <a:buNone/>
            </a:pPr>
            <a:r>
              <a:rPr lang="en-US" sz="2800" dirty="0" smtClean="0">
                <a:latin typeface="Times New Roman" pitchFamily="18" charset="0"/>
                <a:cs typeface="Times New Roman" pitchFamily="18" charset="0"/>
              </a:rPr>
              <a:t>Answer:</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Reinforcement</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563562"/>
          </a:xfrm>
        </p:spPr>
        <p:txBody>
          <a:bodyPr>
            <a:noAutofit/>
          </a:bodyPr>
          <a:lstStyle/>
          <a:p>
            <a:r>
              <a:rPr lang="en-US" sz="3200" b="1" u="sng" dirty="0" smtClean="0">
                <a:latin typeface="Times New Roman" pitchFamily="18" charset="0"/>
                <a:cs typeface="Times New Roman" pitchFamily="18" charset="0"/>
              </a:rPr>
              <a:t>Machine Learning Workflow</a:t>
            </a:r>
            <a:endParaRPr lang="en-US" sz="32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1143000" y="914400"/>
            <a:ext cx="7790688" cy="5943600"/>
          </a:xfrm>
        </p:spPr>
        <p:txBody>
          <a:bodyPr>
            <a:noAutofit/>
          </a:bodyPr>
          <a:lstStyle/>
          <a:p>
            <a:pPr>
              <a:buNone/>
            </a:pPr>
            <a:r>
              <a:rPr lang="en-US" sz="2800" dirty="0" smtClean="0">
                <a:latin typeface="Times New Roman" pitchFamily="18" charset="0"/>
                <a:cs typeface="Times New Roman" pitchFamily="18" charset="0"/>
              </a:rPr>
              <a:t>Collect Data</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Clean Data</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Train Model</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Test Model</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Deploy</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Prediction</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76200"/>
            <a:ext cx="7943088" cy="6172200"/>
          </a:xfrm>
        </p:spPr>
        <p:txBody>
          <a:bodyPr/>
          <a:lstStyle/>
          <a:p>
            <a:pPr>
              <a:buNone/>
            </a:pPr>
            <a:r>
              <a:rPr lang="en-US" dirty="0" smtClean="0">
                <a:latin typeface="Times New Roman" pitchFamily="18" charset="0"/>
                <a:cs typeface="Times New Roman" pitchFamily="18" charset="0"/>
              </a:rPr>
              <a:t>Example:</a:t>
            </a:r>
          </a:p>
          <a:p>
            <a:pPr>
              <a:buNone/>
            </a:pPr>
            <a:r>
              <a:rPr lang="en-US" dirty="0" smtClean="0">
                <a:latin typeface="Times New Roman" pitchFamily="18" charset="0"/>
                <a:cs typeface="Times New Roman" pitchFamily="18" charset="0"/>
              </a:rPr>
              <a:t>Student Placement Prediction</a:t>
            </a:r>
          </a:p>
          <a:p>
            <a:pPr lvl="1">
              <a:buNone/>
            </a:pPr>
            <a:r>
              <a:rPr lang="en-US" dirty="0" smtClean="0">
                <a:latin typeface="Times New Roman" pitchFamily="18" charset="0"/>
                <a:cs typeface="Times New Roman" pitchFamily="18" charset="0"/>
              </a:rPr>
              <a:t>Input:</a:t>
            </a:r>
          </a:p>
          <a:p>
            <a:pPr lvl="1">
              <a:buNone/>
            </a:pPr>
            <a:r>
              <a:rPr lang="en-US" dirty="0" smtClean="0">
                <a:latin typeface="Times New Roman" pitchFamily="18" charset="0"/>
                <a:cs typeface="Times New Roman" pitchFamily="18" charset="0"/>
              </a:rPr>
              <a:t>CGPA </a:t>
            </a:r>
          </a:p>
          <a:p>
            <a:pPr lvl="1">
              <a:buNone/>
            </a:pPr>
            <a:r>
              <a:rPr lang="en-US" dirty="0" smtClean="0">
                <a:latin typeface="Times New Roman" pitchFamily="18" charset="0"/>
                <a:cs typeface="Times New Roman" pitchFamily="18" charset="0"/>
              </a:rPr>
              <a:t>Skills </a:t>
            </a:r>
          </a:p>
          <a:p>
            <a:pPr lvl="1">
              <a:buNone/>
            </a:pPr>
            <a:r>
              <a:rPr lang="en-US" dirty="0" smtClean="0">
                <a:latin typeface="Times New Roman" pitchFamily="18" charset="0"/>
                <a:cs typeface="Times New Roman" pitchFamily="18" charset="0"/>
              </a:rPr>
              <a:t>Attendance </a:t>
            </a:r>
          </a:p>
          <a:p>
            <a:pPr lvl="1">
              <a:buNone/>
            </a:pPr>
            <a:r>
              <a:rPr lang="en-US" dirty="0" smtClean="0">
                <a:latin typeface="Times New Roman" pitchFamily="18" charset="0"/>
                <a:cs typeface="Times New Roman" pitchFamily="18" charset="0"/>
              </a:rPr>
              <a:t>Projects </a:t>
            </a:r>
          </a:p>
          <a:p>
            <a:pPr>
              <a:buNone/>
            </a:pPr>
            <a:r>
              <a:rPr lang="en-US" dirty="0" smtClean="0">
                <a:latin typeface="Times New Roman" pitchFamily="18" charset="0"/>
                <a:cs typeface="Times New Roman" pitchFamily="18" charset="0"/>
              </a:rPr>
              <a:t>Output:</a:t>
            </a:r>
          </a:p>
          <a:p>
            <a:pPr>
              <a:buNone/>
            </a:pPr>
            <a:r>
              <a:rPr lang="en-US" dirty="0" smtClean="0">
                <a:latin typeface="Times New Roman" pitchFamily="18" charset="0"/>
                <a:cs typeface="Times New Roman" pitchFamily="18" charset="0"/>
              </a:rPr>
              <a:t>	Placed / Not Placed</a:t>
            </a:r>
          </a:p>
          <a:p>
            <a:pPr>
              <a:buNone/>
            </a:pP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lnSpcReduction="10000"/>
          </a:bodyPr>
          <a:lstStyle/>
          <a:p>
            <a:pPr>
              <a:buNone/>
            </a:pPr>
            <a:r>
              <a:rPr lang="en-US" sz="3500" b="1" u="sng" dirty="0" smtClean="0">
                <a:latin typeface="Times New Roman" pitchFamily="18" charset="0"/>
                <a:cs typeface="Times New Roman" pitchFamily="18" charset="0"/>
              </a:rPr>
              <a:t>Deep Learning</a:t>
            </a:r>
          </a:p>
          <a:p>
            <a:pPr>
              <a:buNone/>
            </a:pPr>
            <a:r>
              <a:rPr lang="en-US" sz="2600" b="1" dirty="0" smtClean="0">
                <a:latin typeface="Times New Roman" pitchFamily="18" charset="0"/>
                <a:cs typeface="Times New Roman" pitchFamily="18" charset="0"/>
              </a:rPr>
              <a:t>Definition</a:t>
            </a:r>
          </a:p>
          <a:p>
            <a:pPr>
              <a:buNone/>
            </a:pPr>
            <a:r>
              <a:rPr lang="en-US" sz="2600" dirty="0" smtClean="0">
                <a:latin typeface="Times New Roman" pitchFamily="18" charset="0"/>
                <a:cs typeface="Times New Roman" pitchFamily="18" charset="0"/>
              </a:rPr>
              <a:t>		Deep Learning is a subset of Machine Learning that uses artificial neural networks.</a:t>
            </a:r>
          </a:p>
          <a:p>
            <a:pPr>
              <a:buNone/>
            </a:pPr>
            <a:r>
              <a:rPr lang="en-US" sz="2600" dirty="0" smtClean="0">
                <a:latin typeface="Times New Roman" pitchFamily="18" charset="0"/>
                <a:cs typeface="Times New Roman" pitchFamily="18" charset="0"/>
              </a:rPr>
              <a:t>Inspired by human brain.</a:t>
            </a:r>
          </a:p>
          <a:p>
            <a:pPr>
              <a:buNone/>
            </a:pPr>
            <a:r>
              <a:rPr lang="en-US" sz="2600" dirty="0" smtClean="0">
                <a:latin typeface="Times New Roman" pitchFamily="18" charset="0"/>
                <a:cs typeface="Times New Roman" pitchFamily="18" charset="0"/>
              </a:rPr>
              <a:t>Used for:</a:t>
            </a:r>
          </a:p>
          <a:p>
            <a:r>
              <a:rPr lang="en-US" sz="2600" dirty="0" smtClean="0">
                <a:latin typeface="Times New Roman" pitchFamily="18" charset="0"/>
                <a:cs typeface="Times New Roman" pitchFamily="18" charset="0"/>
              </a:rPr>
              <a:t>Images </a:t>
            </a:r>
          </a:p>
          <a:p>
            <a:r>
              <a:rPr lang="en-US" sz="2600" dirty="0" smtClean="0">
                <a:latin typeface="Times New Roman" pitchFamily="18" charset="0"/>
                <a:cs typeface="Times New Roman" pitchFamily="18" charset="0"/>
              </a:rPr>
              <a:t>Voice </a:t>
            </a:r>
          </a:p>
          <a:p>
            <a:r>
              <a:rPr lang="en-US" sz="2600" dirty="0" smtClean="0">
                <a:latin typeface="Times New Roman" pitchFamily="18" charset="0"/>
                <a:cs typeface="Times New Roman" pitchFamily="18" charset="0"/>
              </a:rPr>
              <a:t>Video </a:t>
            </a:r>
          </a:p>
          <a:p>
            <a:r>
              <a:rPr lang="en-US" sz="2600" dirty="0" smtClean="0">
                <a:latin typeface="Times New Roman" pitchFamily="18" charset="0"/>
                <a:cs typeface="Times New Roman" pitchFamily="18" charset="0"/>
              </a:rPr>
              <a:t>Language </a:t>
            </a:r>
          </a:p>
          <a:p>
            <a:pPr>
              <a:buNone/>
            </a:pPr>
            <a:r>
              <a:rPr lang="en-US" sz="2600" dirty="0" smtClean="0">
                <a:latin typeface="Times New Roman" pitchFamily="18" charset="0"/>
                <a:cs typeface="Times New Roman" pitchFamily="18" charset="0"/>
              </a:rPr>
              <a:t>Examples:</a:t>
            </a:r>
          </a:p>
          <a:p>
            <a:r>
              <a:rPr lang="en-US" sz="2600" dirty="0" smtClean="0">
                <a:latin typeface="Times New Roman" pitchFamily="18" charset="0"/>
                <a:cs typeface="Times New Roman" pitchFamily="18" charset="0"/>
              </a:rPr>
              <a:t>Face Recognition </a:t>
            </a:r>
          </a:p>
          <a:p>
            <a:r>
              <a:rPr lang="en-US" sz="2600" dirty="0" smtClean="0">
                <a:latin typeface="Times New Roman" pitchFamily="18" charset="0"/>
                <a:cs typeface="Times New Roman" pitchFamily="18" charset="0"/>
              </a:rPr>
              <a:t>ChatGPT </a:t>
            </a:r>
          </a:p>
          <a:p>
            <a:r>
              <a:rPr lang="en-US" sz="2600" dirty="0" smtClean="0">
                <a:latin typeface="Times New Roman" pitchFamily="18" charset="0"/>
                <a:cs typeface="Times New Roman" pitchFamily="18" charset="0"/>
              </a:rPr>
              <a:t>Image Generation</a:t>
            </a:r>
          </a:p>
          <a:p>
            <a:pPr>
              <a:buNone/>
            </a:pPr>
            <a:endParaRPr lang="en-US"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762000"/>
          </a:xfrm>
        </p:spPr>
        <p:txBody>
          <a:bodyPr>
            <a:normAutofit/>
          </a:bodyPr>
          <a:lstStyle/>
          <a:p>
            <a:r>
              <a:rPr lang="en-US" sz="2800" b="1" u="sng" dirty="0" smtClean="0">
                <a:effectLst/>
                <a:latin typeface="Times New Roman" pitchFamily="18" charset="0"/>
                <a:cs typeface="Times New Roman" pitchFamily="18" charset="0"/>
              </a:rPr>
              <a:t>Artificial Neural Network</a:t>
            </a:r>
            <a:endParaRPr lang="en-US" sz="2800" b="1" u="sng" dirty="0">
              <a:effectLst/>
              <a:latin typeface="Times New Roman" pitchFamily="18" charset="0"/>
              <a:cs typeface="Times New Roman" pitchFamily="18" charset="0"/>
            </a:endParaRPr>
          </a:p>
        </p:txBody>
      </p:sp>
      <p:sp>
        <p:nvSpPr>
          <p:cNvPr id="7170" name="AutoShape 2" descr="Generated image: मानव मस्तिष्क बनाम कृत्रिम तंत्रिका नेटवर्क"/>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1219200" y="914400"/>
            <a:ext cx="7696200" cy="4401205"/>
          </a:xfrm>
          <a:prstGeom prst="rect">
            <a:avLst/>
          </a:prstGeom>
        </p:spPr>
        <p:txBody>
          <a:bodyPr wrap="square">
            <a:spAutoFit/>
          </a:bodyPr>
          <a:lstStyle/>
          <a:p>
            <a:r>
              <a:rPr lang="en-US" sz="2800" dirty="0" smtClean="0">
                <a:latin typeface="Times New Roman" pitchFamily="18" charset="0"/>
                <a:cs typeface="Times New Roman" pitchFamily="18" charset="0"/>
              </a:rPr>
              <a:t>Human Brain:</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	Neuron → Connection → Learning</a:t>
            </a:r>
          </a:p>
          <a:p>
            <a:r>
              <a:rPr lang="en-US" sz="2800" dirty="0" smtClean="0">
                <a:latin typeface="Times New Roman" pitchFamily="18" charset="0"/>
                <a:cs typeface="Times New Roman" pitchFamily="18" charset="0"/>
              </a:rPr>
              <a:t>AI:</a:t>
            </a:r>
          </a:p>
          <a:p>
            <a:pPr lvl="1"/>
            <a:r>
              <a:rPr lang="en-US" sz="2800" dirty="0" smtClean="0">
                <a:latin typeface="Times New Roman" pitchFamily="18" charset="0"/>
                <a:cs typeface="Times New Roman" pitchFamily="18" charset="0"/>
              </a:rPr>
              <a:t>Input Layer</a:t>
            </a:r>
          </a:p>
          <a:p>
            <a:pPr lvl="1"/>
            <a:r>
              <a:rPr lang="en-US" sz="2800" dirty="0" smtClean="0">
                <a:latin typeface="Times New Roman" pitchFamily="18" charset="0"/>
                <a:cs typeface="Times New Roman" pitchFamily="18" charset="0"/>
              </a:rPr>
              <a:t>↓</a:t>
            </a:r>
          </a:p>
          <a:p>
            <a:pPr lvl="1"/>
            <a:r>
              <a:rPr lang="en-US" sz="2800" dirty="0" smtClean="0">
                <a:latin typeface="Times New Roman" pitchFamily="18" charset="0"/>
                <a:cs typeface="Times New Roman" pitchFamily="18" charset="0"/>
              </a:rPr>
              <a:t>Hidden Layers</a:t>
            </a:r>
          </a:p>
          <a:p>
            <a:pPr lvl="1"/>
            <a:r>
              <a:rPr lang="en-US" sz="2800" dirty="0" smtClean="0">
                <a:latin typeface="Times New Roman" pitchFamily="18" charset="0"/>
                <a:cs typeface="Times New Roman" pitchFamily="18" charset="0"/>
              </a:rPr>
              <a:t>↓</a:t>
            </a:r>
          </a:p>
          <a:p>
            <a:pPr lvl="1"/>
            <a:r>
              <a:rPr lang="en-US" sz="2800" dirty="0" smtClean="0">
                <a:latin typeface="Times New Roman" pitchFamily="18" charset="0"/>
                <a:cs typeface="Times New Roman" pitchFamily="18" charset="0"/>
              </a:rPr>
              <a:t>Output Layer</a:t>
            </a:r>
          </a:p>
          <a:p>
            <a:r>
              <a:rPr lang="en-US" sz="2800" dirty="0" smtClean="0">
                <a:latin typeface="Times New Roman" pitchFamily="18" charset="0"/>
                <a:cs typeface="Times New Roman" pitchFamily="18" charset="0"/>
              </a:rPr>
              <a:t>More layers = Deep Learning</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Users\faraz\Downloads\ChatGPT Image Jul 21, 2026, 11_19_37 PM.png"/>
          <p:cNvPicPr>
            <a:picLocks noChangeAspect="1" noChangeArrowheads="1"/>
          </p:cNvPicPr>
          <p:nvPr/>
        </p:nvPicPr>
        <p:blipFill>
          <a:blip r:embed="rId2" cstate="print"/>
          <a:srcRect/>
          <a:stretch>
            <a:fillRect/>
          </a:stretch>
        </p:blipFill>
        <p:spPr bwMode="auto">
          <a:xfrm>
            <a:off x="0" y="0"/>
            <a:ext cx="9144000" cy="7086600"/>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0"/>
            <a:ext cx="8019288" cy="6248400"/>
          </a:xfrm>
        </p:spPr>
        <p:txBody>
          <a:bodyPr/>
          <a:lstStyle/>
          <a:p>
            <a:pPr>
              <a:buNone/>
            </a:pPr>
            <a:r>
              <a:rPr lang="en-US" b="1" dirty="0" smtClean="0">
                <a:latin typeface="Times New Roman" pitchFamily="18" charset="0"/>
                <a:cs typeface="Times New Roman" pitchFamily="18" charset="0"/>
              </a:rPr>
              <a:t>Activity 4</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How does Face Recognition work?</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148</TotalTime>
  <Words>678</Words>
  <Application>Microsoft Office PowerPoint</Application>
  <PresentationFormat>On-screen Show (4:3)</PresentationFormat>
  <Paragraphs>301</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Solstice</vt:lpstr>
      <vt:lpstr>Slide 1</vt:lpstr>
      <vt:lpstr>Slide 2</vt:lpstr>
      <vt:lpstr>Slide 3</vt:lpstr>
      <vt:lpstr>Recap: Introduction to AI World</vt:lpstr>
      <vt:lpstr>Activity</vt:lpstr>
      <vt:lpstr>What is an Ecosystem?</vt:lpstr>
      <vt:lpstr>Slide 7</vt:lpstr>
      <vt:lpstr>Important Points  AI is the biggest field.  ML is a technique to achieve AI.  Deep Learning is a powerful ML method.  NLP helps machines understand language.  Computer Vision helps machines see.  Generative AI creates new content.  Robotics combines AI with machines. </vt:lpstr>
      <vt:lpstr>Slide 9</vt:lpstr>
      <vt:lpstr>Slide 10</vt:lpstr>
      <vt:lpstr>Activity 1</vt:lpstr>
      <vt:lpstr>Answers</vt:lpstr>
      <vt:lpstr>Artificial Intelligence (AI)</vt:lpstr>
      <vt:lpstr>Slide 14</vt:lpstr>
      <vt:lpstr>Slide 15</vt:lpstr>
      <vt:lpstr>Types of AI</vt:lpstr>
      <vt:lpstr>Slide 17</vt:lpstr>
      <vt:lpstr>Example: Spam Detection</vt:lpstr>
      <vt:lpstr>Types of Machine Learning</vt:lpstr>
      <vt:lpstr>Slide 20</vt:lpstr>
      <vt:lpstr>Slide 21</vt:lpstr>
      <vt:lpstr>Slide 22</vt:lpstr>
      <vt:lpstr>Slide 23</vt:lpstr>
      <vt:lpstr>Machine Learning Workflow</vt:lpstr>
      <vt:lpstr>Slide 25</vt:lpstr>
      <vt:lpstr>Slide 26</vt:lpstr>
      <vt:lpstr>Artificial Neural Network</vt:lpstr>
      <vt:lpstr>Slide 28</vt:lpstr>
      <vt:lpstr>Slide 29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faraz alam</dc:creator>
  <cp:lastModifiedBy>faraz alam</cp:lastModifiedBy>
  <cp:revision>24</cp:revision>
  <dcterms:created xsi:type="dcterms:W3CDTF">2006-08-16T00:00:00Z</dcterms:created>
  <dcterms:modified xsi:type="dcterms:W3CDTF">2026-07-26T01:05:20Z</dcterms:modified>
</cp:coreProperties>
</file>